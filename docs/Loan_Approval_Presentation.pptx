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Greet the panel. One line: 'My project predicts whether a loan application will be approved or rejected using two supervised machine-learning models trained on a public dataset.' Introduce yourself and your guide, then move on quickly - this slide costs you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two asymmetric costs: for the bank, a false approval (default) is usually more expensive than a false rejection. That asymmetry is exactly why we report precision AND recall, not just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'why only two models?' — statistical honesty: 614 rows is small; simple models generalise and stay interpretable. A Random Forest was considered but rejected on evidence (no overfitting measured).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data provenance BEFORE anyone asks: the dataset is a public teaching dataset owned by no bank. The 149 missing cells motivate the preprocessing slide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story in one line: 'EDA showed credit history dominates and income barely separates the classes - which later matched the trained models exactly.' The skew picture justifies choosing the median when filling missing incomes.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leakage in one sentence: 'test-set statistics sneaking into training, inflating scores.' Then say our structure makes it impossible: the pipeline is fit only when we call fit on X_train. This is the slide to underline.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arrows left to right, then point at the pickle step: 'everything the model learned travels into the app in one file — that's why the app starts instantly.'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'what is the sigmoid?' — the S-curve mapping any score into (0,1), so it reads as a probability; 0.5 is the decision boundary. If asked about Gini — the mix-level of a node; the tree picks splits that lower it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lazy-model argument for why accuracy alone is weak: 'always approve' would score 69% and reject nobody. Precision/recall expose that. Mention F1 is what we used to pick the final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numbers straight from the table. The likely student question is 'why not Random Forest?' — answer: we tested the precondition (overfit gap) and it wasn't met; simpler model wins on explainability. ROC-AUC gap (0.852 vs 0.706) shows LR ranks applicants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Actually run the app live if permitted — it uses the same input the examiners can see on the projector. Narrate: 'one toggle flips both models' decisions because credit history was the dominant feature in training too.'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a limitation unprompted: 'the model is lenient — it catches approvals well (recall 0.988) but misses 42% of true rejections.' Examiners reward self-awareness. Close with future scope and thank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AI-Based Loan Approval Prediction System</a:t>
            </a:r>
          </a:p>
          <a:p>
            <a:pPr algn="ctr">
              <a:defRPr sz="2000">
                <a:solidFill>
                  <a:srgbClr val="F4F6F8"/>
                </a:solidFill>
              </a:defRPr>
            </a:pPr>
            <a:r>
              <a:t>Predicting loan approval with Logistic Regression vs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Student:  &lt;Your Name&gt;      Roll No:  &lt;...&gt;      Class:  &lt;...&gt;      Guide:  &lt;...&gt;</a:t>
            </a:r>
          </a:p>
          <a:p>
            <a:pPr algn="ctr">
              <a:defRPr sz="1400">
                <a:solidFill>
                  <a:srgbClr val="444444"/>
                </a:solidFill>
              </a:defRPr>
            </a:pPr>
            <a:r>
              <a:t>&lt;College name&gt;   ·   &lt;Date of presentation&gt;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Banks receive thousands of loan applications; manual screening is slow, inconsistent and subjective.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Two types of costly mistakes:</a:t>
            </a:r>
          </a:p>
          <a:p>
            <a:pPr lvl="1"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–  approving an applicant who will default (bad loan / loss)</a:t>
            </a:r>
          </a:p>
          <a:p>
            <a:pPr lvl="1"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–  rejecting a creditworthy customer (lost business)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Goal: learn from historical labelled applications and predict Approved / Rejected automatically.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Formally: a supervised, binary classification problem on tabular data.</a:t>
            </a:r>
          </a:p>
        </p:txBody>
      </p:sp>
      <p:pic>
        <p:nvPicPr>
          <p:cNvPr id="4" name="Picture 3" descr="1_approval_vs_re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029200" cy="3352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5760720"/>
            <a:ext cx="50292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</a:defRPr>
            </a:pPr>
            <a:r>
              <a:t>•  Why this dataset suits the task: one clear target (Loan_Status).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3.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Build an end-to-end supervised ML pipeline: data → preprocessing → training → evaluation → deployment.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Handle real-world data quality issues: missing values, skew, class imbalance.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Train and fairly compare two classical models: Logistic Regression and Decision Tree (max_depth 4).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Evaluate with accuracy, precision, recall, F1, ROC-AUC and confusion matrices on a held-out test set.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Serve the models in an interactive Streamlit application with live predictions.</a:t>
            </a:r>
          </a:p>
          <a:p>
            <a:pPr>
              <a:spcAft>
                <a:spcPts val="600"/>
              </a:spcAft>
              <a:defRPr sz="1900">
                <a:solidFill>
                  <a:srgbClr val="444444"/>
                </a:solidFill>
              </a:defRPr>
            </a:pPr>
            <a:r>
              <a:t>•  Keep every step explainable — no deep learning, no black boxes.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4. Dataset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Source: Analytics Vidhya 'Loan Prediction' practice problem (public, also on Kaggle).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Fictional 'Dream Housing Finance' sample data - NOT any real bank's records.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614 applications × 13 columns; target = Loan_Status (Y/N).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Class balance: 422 approved (68.7%) vs 192 rejected (31.3%).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Feature types: 6 categorical (Gender, Married, Dependents, Education, Self_Employed, Property_Area) + 5 numeric (incomes, LoanAmount, Term, Credit_History).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Data quality: 149 missing cells across 7 columns (Credit_History 50, Self_Employed 32, LoanAmount 22...).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5. Exploratory Data Analysis</a:t>
            </a:r>
          </a:p>
        </p:txBody>
      </p:sp>
      <p:pic>
        <p:nvPicPr>
          <p:cNvPr id="3" name="Picture 2" descr="4_credit_history_vs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852160" cy="2128058"/>
          </a:xfrm>
          <a:prstGeom prst="rect">
            <a:avLst/>
          </a:prstGeom>
        </p:spPr>
      </p:pic>
      <p:pic>
        <p:nvPicPr>
          <p:cNvPr id="4" name="Picture 3" descr="2_applicant_inco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577840" cy="2028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63440"/>
            <a:ext cx="11338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Credit history is decisive: approval 80% with history vs 8% without (10×).</a:t>
            </a:r>
          </a:p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Income is right-skewed (skew 6.54): median ₹3,812 but mean ₹5,403, outliers to ₹81,000.</a:t>
            </a:r>
          </a:p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Property-area effect is mild: Semiurban 77% &gt; Urban 66% &gt; Rural 61%.</a:t>
            </a:r>
          </a:p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Heatmap: Credit_History↔approval +0.56; income↔LoanAmount +0.57; income↔approval ≈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6. Data Preprocessing (leakage-safe)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Split BEFORE any fitting: 80% train (491) / 20% test (123), stratified, random_state = 42.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All preprocessing lives inside scikit-learn Pipeline + ColumnTransformer:</a:t>
            </a:r>
          </a:p>
          <a:p>
            <a:pPr lvl="1"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–  numeric: SimpleImputer(median) → StandardScaler</a:t>
            </a:r>
          </a:p>
          <a:p>
            <a:pPr lvl="1"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–  categorical: SimpleImputer(most_frequent) → OneHotEncoder(handle_unknown='ignore')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Imputers, scaler and encoder are FIT on the 491 training rows ONLY, then applied unchanged to test rows — no data leakage.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Loan_ID dropped: a unique ID has no predictive meaning (memorisation fuel).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"/>
            <a:ext cx="10698480" cy="1828800"/>
          </a:xfrm>
          <a:prstGeom prst="rect">
            <a:avLst/>
          </a:prstGeom>
          <a:solidFill>
            <a:srgbClr val="F4F6F8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F3A5F"/>
                </a:solidFill>
                <a:latin typeface="Courier New"/>
              </a:defRPr>
            </a:pPr>
            <a:r>
              <a:t>raw app row</a:t>
            </a:r>
          </a:p>
          <a:p>
            <a:pPr>
              <a:defRPr sz="1500">
                <a:solidFill>
                  <a:srgbClr val="1F3A5F"/>
                </a:solidFill>
                <a:latin typeface="Courier New"/>
              </a:defRPr>
            </a:pPr>
            <a:r>
              <a:t>   ├── numeric block → median-impute → scale</a:t>
            </a:r>
          </a:p>
          <a:p>
            <a:pPr>
              <a:defRPr sz="1500">
                <a:solidFill>
                  <a:srgbClr val="1F3A5F"/>
                </a:solidFill>
                <a:latin typeface="Courier New"/>
              </a:defRPr>
            </a:pPr>
            <a:r>
              <a:t>   └── categorical block → mode-impute → one-hot</a:t>
            </a:r>
          </a:p>
          <a:p>
            <a:pPr>
              <a:defRPr sz="1500">
                <a:solidFill>
                  <a:srgbClr val="1F3A5F"/>
                </a:solidFill>
                <a:latin typeface="Courier New"/>
              </a:defRPr>
            </a:pPr>
            <a:r>
              <a:t>        ↓ combined matrix → fitted model → Y/N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7. Proposed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103120"/>
            <a:ext cx="1417320" cy="146304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 dataset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(614 rows)</a:t>
            </a:r>
          </a:p>
        </p:txBody>
      </p:sp>
      <p:sp>
        <p:nvSpPr>
          <p:cNvPr id="4" name="Can 3"/>
          <p:cNvSpPr/>
          <p:nvPr/>
        </p:nvSpPr>
        <p:spPr>
          <a:xfrm>
            <a:off x="1920240" y="2697480"/>
            <a:ext cx="164592" cy="274320"/>
          </a:xfrm>
          <a:prstGeom prst="can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75688" y="2103120"/>
            <a:ext cx="1417320" cy="1463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Leak-safe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preprocessing</a:t>
            </a:r>
          </a:p>
        </p:txBody>
      </p:sp>
      <p:sp>
        <p:nvSpPr>
          <p:cNvPr id="6" name="Can 5"/>
          <p:cNvSpPr/>
          <p:nvPr/>
        </p:nvSpPr>
        <p:spPr>
          <a:xfrm>
            <a:off x="3493008" y="2697480"/>
            <a:ext cx="164592" cy="274320"/>
          </a:xfrm>
          <a:prstGeom prst="can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48456" y="2103120"/>
            <a:ext cx="1417320" cy="146304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LR + DT</a:t>
            </a:r>
          </a:p>
        </p:txBody>
      </p:sp>
      <p:sp>
        <p:nvSpPr>
          <p:cNvPr id="8" name="Can 7"/>
          <p:cNvSpPr/>
          <p:nvPr/>
        </p:nvSpPr>
        <p:spPr>
          <a:xfrm>
            <a:off x="5065776" y="2697480"/>
            <a:ext cx="164592" cy="274320"/>
          </a:xfrm>
          <a:prstGeom prst="can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21224" y="2103120"/>
            <a:ext cx="1417320" cy="1463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Evaluate on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123-row test set</a:t>
            </a:r>
          </a:p>
        </p:txBody>
      </p:sp>
      <p:sp>
        <p:nvSpPr>
          <p:cNvPr id="10" name="Can 9"/>
          <p:cNvSpPr/>
          <p:nvPr/>
        </p:nvSpPr>
        <p:spPr>
          <a:xfrm>
            <a:off x="6638544" y="2697480"/>
            <a:ext cx="164592" cy="274320"/>
          </a:xfrm>
          <a:prstGeom prst="can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2" y="2103120"/>
            <a:ext cx="1417320" cy="146304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Select best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(highest F1)</a:t>
            </a:r>
          </a:p>
        </p:txBody>
      </p:sp>
      <p:sp>
        <p:nvSpPr>
          <p:cNvPr id="12" name="Can 11"/>
          <p:cNvSpPr/>
          <p:nvPr/>
        </p:nvSpPr>
        <p:spPr>
          <a:xfrm>
            <a:off x="8211312" y="2697480"/>
            <a:ext cx="164592" cy="274320"/>
          </a:xfrm>
          <a:prstGeom prst="can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66760" y="2103120"/>
            <a:ext cx="1417320" cy="1463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Pickle to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best_model.pkl</a:t>
            </a:r>
          </a:p>
        </p:txBody>
      </p:sp>
      <p:sp>
        <p:nvSpPr>
          <p:cNvPr id="14" name="Can 13"/>
          <p:cNvSpPr/>
          <p:nvPr/>
        </p:nvSpPr>
        <p:spPr>
          <a:xfrm>
            <a:off x="9784080" y="2697480"/>
            <a:ext cx="164592" cy="274320"/>
          </a:xfrm>
          <a:prstGeom prst="can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39528" y="2103120"/>
            <a:ext cx="1417320" cy="146304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Streamlit app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raw-row predictions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124712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One pipeline object per model chains preprocessing + estimator, so train-time and app-time inputs are processed identically.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Pickling persists the FITTED pipeline (scaler stats + encoder vocabulary + weights) — the app never retrains.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Both saved pipelines load once via @st.cache_resource; predictions appear in milliseconds.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7 /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8. Logistic Regression vs Decision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Logistic Regression — linear baseline:</a:t>
            </a:r>
          </a:p>
          <a:p>
            <a:pPr lvl="1"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t>–  weighted sum of features → sigmoid → P(approved); smooth probabilities, interpretable weights</a:t>
            </a:r>
          </a:p>
          <a:p>
            <a:pPr lvl="1"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t>–  needs feature scaling → hence the StandardScaler block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Decision Tree (max_depth = 4) — rule-based:</a:t>
            </a:r>
          </a:p>
          <a:p>
            <a:pPr lvl="1"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t>–  learns 4 yes/no questions via Gini impurity; scale-invariant, human-readable</a:t>
            </a:r>
          </a:p>
          <a:p>
            <a:pPr lvl="1"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t>–  depth capped at 4 to prevent memorisation (overfitting)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Both share the identical preprocessing → a fair head-to-head.</a:t>
            </a:r>
          </a:p>
        </p:txBody>
      </p:sp>
      <p:pic>
        <p:nvPicPr>
          <p:cNvPr id="4" name="Picture 3" descr="04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54480"/>
            <a:ext cx="5394960" cy="2277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46520" y="489204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t>•  Confusion matrices on the test set: LR = 22 TN / 2 FP / 2 FN / 83 TP.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8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9. Model Evaluation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Accuracy — overall share of correct decisions; misleading alone at 69/31 imbalance.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Precision — of predicted approvals, how many were truly safe? (guards the bank: punishes FP)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Recall — of truly approvable loans, how many did we catch? (guards the customer: punishes FN)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F1-score — harmonic mean of precision &amp; recall; our model-selection criterion.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ROC-AUC — ranking quality across all thresholds (0.5 = coin-flip, 1.0 = perfect).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All computed on the untouched 123-row test set only.</a:t>
            </a:r>
          </a:p>
        </p:txBody>
      </p:sp>
      <p:pic>
        <p:nvPicPr>
          <p:cNvPr id="4" name="Picture 3" descr="05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54480"/>
            <a:ext cx="530352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10. Actual Results &amp;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6583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518160"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ROC-AUC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0.852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t>Decision Tree (depth 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0.706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00400"/>
            <a:ext cx="6583680" cy="3063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Logistic Regression wins on Accuracy, Precision, F1 and ROC-AUC (Recall ties at 0.988).</a:t>
            </a:r>
          </a:p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Selected model: Logistic Regression — by measured test F1 (0.908), not assumption.</a:t>
            </a:r>
          </a:p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Overfit check: train 0.800 vs test 0.862 (LR); 0.809 vs 0.846 (DT) → gaps NEGATIVE, models generalise.</a:t>
            </a:r>
          </a:p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•  Random Forest was deliberately NOT added: no overfitting to fix (Occam's razor).</a:t>
            </a:r>
          </a:p>
        </p:txBody>
      </p:sp>
      <p:pic>
        <p:nvPicPr>
          <p:cNvPr id="5" name="Picture 4" descr="04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937760" cy="20848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11. Application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Streamlit app loads both pickled pipelines once (cache) — startup without retraining.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Form mirrors the 11 training features; raw values only — all encoding happens inside the pipeline.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Input validation + graceful handling of missing model files.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Demo (verified live): defaults → APPROVED 80% (LR) / 77% (DT); flip credit history → REJECTED.</a:t>
            </a:r>
          </a:p>
          <a:p>
            <a:pPr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•  That one toggle shows the decisive feature in action.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" y="1"/>
            <a:ext cx="5486400" cy="3566160"/>
          </a:xfrm>
          <a:prstGeom prst="rect">
            <a:avLst/>
          </a:prstGeom>
          <a:solidFill>
            <a:srgbClr val="F4F6F8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LIVE DEMO — run:</a:t>
            </a:r>
          </a:p>
          <a:p>
            <a:pPr algn="ctr">
              <a:defRPr sz="1400" b="1">
                <a:solidFill>
                  <a:srgbClr val="1F3A5F"/>
                </a:solidFill>
              </a:defRPr>
            </a:pPr>
          </a:p>
          <a:p>
            <a:pPr algn="ctr">
              <a:defRPr sz="1600" b="1">
                <a:solidFill>
                  <a:srgbClr val="1F3A5F"/>
                </a:solidFill>
                <a:latin typeface="Courier New"/>
              </a:defRPr>
            </a:pPr>
            <a:r>
              <a:t>./.venv/bin/streamlit run src/app.py</a:t>
            </a:r>
          </a:p>
          <a:p>
            <a:pPr algn="ctr">
              <a:defRPr sz="1400" b="1">
                <a:solidFill>
                  <a:srgbClr val="1F3A5F"/>
                </a:solidFill>
              </a:defRPr>
            </a:pPr>
          </a:p>
          <a:p>
            <a:pPr algn="ctr">
              <a:defRPr sz="1400" b="1">
                <a:solidFill>
                  <a:srgbClr val="1F3A5F"/>
                </a:solidFill>
              </a:defRPr>
            </a:pPr>
            <a:r>
              <a:t>1) keep defaults → Predict → APPROVED 80% / 77%</a:t>
            </a:r>
          </a:p>
          <a:p>
            <a:pPr algn="ctr">
              <a:defRPr sz="1400" b="1">
                <a:solidFill>
                  <a:srgbClr val="1F3A5F"/>
                </a:solidFill>
              </a:defRPr>
            </a:pPr>
            <a:r>
              <a:t>2) set Credit History to 0 → Predict → REJECTED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12. Conclusion, 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Delivered: complete, explainable loan-screening pipeline — 86% test accuracy, F1 0.908 (LR best).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Learnings: credit history dominates approval decisions; leakage-safe preprocessing is a structural choice, not an afterthought.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Limitations — said honestly:</a:t>
            </a:r>
          </a:p>
          <a:p>
            <a:pPr lvl="1"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–  dataset is small (614) and not from a real lender</a:t>
            </a:r>
          </a:p>
          <a:p>
            <a:pPr lvl="1"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–  recall for the rejected class is only 0.58 — the model is lenient</a:t>
            </a:r>
          </a:p>
          <a:p>
            <a:pPr lvl="1"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t>–  sensitive attributes (Gender, Education) remain in the feature set</a:t>
            </a:r>
          </a:p>
          <a:p>
            <a:pPr>
              <a:spcAft>
                <a:spcPts val="600"/>
              </a:spcAft>
              <a:defRPr sz="1700">
                <a:solidFill>
                  <a:srgbClr val="444444"/>
                </a:solidFill>
              </a:defRPr>
            </a:pPr>
            <a:r>
              <a:t>•  Future scope: k-fold cross-validation, decision-threshold calibration, fairness audit, larger/real datasets.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778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3A5F"/>
                </a:solidFill>
              </a:defRPr>
            </a:pPr>
            <a:r>
              <a:t>Thank you — questions welcome.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44444"/>
                </a:solidFill>
              </a:defRPr>
            </a:pPr>
            <a:r>
              <a:t>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4444"/>
                </a:solidFill>
              </a:defRPr>
            </a:pPr>
            <a:r>
              <a:t>Public dataset: Analytics Vidhya Loan Prediction (not proprietary bank data)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