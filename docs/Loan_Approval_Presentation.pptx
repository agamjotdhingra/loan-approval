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Logistic Regression</c:v>
                </c:pt>
              </c:strCache>
            </c:strRef>
          </c:tx>
          <c:spPr>
            <a:solidFill>
              <a:srgbClr val="1F6F5C"/>
            </a:solidFill>
          </c:spPr>
          <c:cat>
            <c:strRef>
              <c:f>Sheet1!$A$2:$A$6</c:f>
              <c:strCache>
                <c:ptCount val="5"/>
                <c:pt idx="0">
                  <c:v>Accuracy</c:v>
                </c:pt>
                <c:pt idx="1">
                  <c:v>Precision</c:v>
                </c:pt>
                <c:pt idx="2">
                  <c:v>Recall</c:v>
                </c:pt>
                <c:pt idx="3">
                  <c:v>F1-score</c:v>
                </c:pt>
                <c:pt idx="4">
                  <c:v>ROC-AUC</c:v>
                </c:pt>
              </c:strCache>
            </c:strRef>
          </c:cat>
          <c:val>
            <c:numRef>
              <c:f>Sheet1!$B$2:$B$6</c:f>
              <c:numCache>
                <c:formatCode>General</c:formatCode>
                <c:ptCount val="5"/>
                <c:pt idx="0">
                  <c:v>0.862</c:v>
                </c:pt>
                <c:pt idx="1">
                  <c:v>0.84</c:v>
                </c:pt>
                <c:pt idx="2">
                  <c:v>0.988</c:v>
                </c:pt>
                <c:pt idx="3">
                  <c:v>0.908</c:v>
                </c:pt>
                <c:pt idx="4">
                  <c:v>0.87</c:v>
                </c:pt>
              </c:numCache>
            </c:numRef>
          </c:val>
        </c:ser>
        <c:ser>
          <c:idx val="1"/>
          <c:order val="1"/>
          <c:tx>
            <c:strRef>
              <c:f>Sheet1!$C$1</c:f>
              <c:strCache>
                <c:ptCount val="1"/>
                <c:pt idx="0">
                  <c:v>Decision Tree</c:v>
                </c:pt>
              </c:strCache>
            </c:strRef>
          </c:tx>
          <c:spPr>
            <a:solidFill>
              <a:srgbClr val="E3A72F"/>
            </a:solidFill>
          </c:spPr>
          <c:cat>
            <c:strRef>
              <c:f>Sheet1!$A$2:$A$6</c:f>
              <c:strCache>
                <c:ptCount val="5"/>
                <c:pt idx="0">
                  <c:v>Accuracy</c:v>
                </c:pt>
                <c:pt idx="1">
                  <c:v>Precision</c:v>
                </c:pt>
                <c:pt idx="2">
                  <c:v>Recall</c:v>
                </c:pt>
                <c:pt idx="3">
                  <c:v>F1-score</c:v>
                </c:pt>
                <c:pt idx="4">
                  <c:v>ROC-AUC</c:v>
                </c:pt>
              </c:strCache>
            </c:strRef>
          </c:cat>
          <c:val>
            <c:numRef>
              <c:f>Sheet1!$C$2:$C$6</c:f>
              <c:numCache>
                <c:formatCode>General</c:formatCode>
                <c:ptCount val="5"/>
                <c:pt idx="0">
                  <c:v>0.862</c:v>
                </c:pt>
                <c:pt idx="1">
                  <c:v>0.862</c:v>
                </c:pt>
                <c:pt idx="2">
                  <c:v>0.953</c:v>
                </c:pt>
                <c:pt idx="3">
                  <c:v>0.905</c:v>
                </c:pt>
                <c:pt idx="4">
                  <c:v>0.802</c:v>
                </c:pt>
              </c:numCache>
            </c:numRef>
          </c:val>
        </c:ser>
        <c:ser>
          <c:idx val="2"/>
          <c:order val="2"/>
          <c:tx>
            <c:strRef>
              <c:f>Sheet1!$D$1</c:f>
              <c:strCache>
                <c:ptCount val="1"/>
                <c:pt idx="0">
                  <c:v>Random Forest</c:v>
                </c:pt>
              </c:strCache>
            </c:strRef>
          </c:tx>
          <c:spPr>
            <a:solidFill>
              <a:srgbClr val="0F3D3E"/>
            </a:solidFill>
          </c:spPr>
          <c:cat>
            <c:strRef>
              <c:f>Sheet1!$A$2:$A$6</c:f>
              <c:strCache>
                <c:ptCount val="5"/>
                <c:pt idx="0">
                  <c:v>Accuracy</c:v>
                </c:pt>
                <c:pt idx="1">
                  <c:v>Precision</c:v>
                </c:pt>
                <c:pt idx="2">
                  <c:v>Recall</c:v>
                </c:pt>
                <c:pt idx="3">
                  <c:v>F1-score</c:v>
                </c:pt>
                <c:pt idx="4">
                  <c:v>ROC-AUC</c:v>
                </c:pt>
              </c:strCache>
            </c:strRef>
          </c:cat>
          <c:val>
            <c:numRef>
              <c:f>Sheet1!$D$2:$D$6</c:f>
              <c:numCache>
                <c:formatCode>General</c:formatCode>
                <c:ptCount val="5"/>
                <c:pt idx="0">
                  <c:v>0.878</c:v>
                </c:pt>
                <c:pt idx="1">
                  <c:v>0.857</c:v>
                </c:pt>
                <c:pt idx="2">
                  <c:v>0.988</c:v>
                </c:pt>
                <c:pt idx="3">
                  <c:v>0.918</c:v>
                </c:pt>
                <c:pt idx="4">
                  <c:v>0.862</c:v>
                </c:pt>
              </c:numCache>
            </c:numRef>
          </c:val>
        </c:ser>
        <c:dLbls>
          <c:numFmt formatCode="0.00" sourceLinked="0"/>
          <c:txPr>
            <a:bodyPr/>
            <a:lstStyle/>
            <a:p>
              <a:pPr>
                <a:defRPr sz="10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txPr>
          <a:bodyPr/>
          <a:lstStyle/>
          <a:p>
            <a:pPr>
              <a:defRPr sz="1300"/>
            </a:pPr>
          </a:p>
        </c:txPr>
        <c:crossAx val="-2113994440"/>
        <c:crosses val="autoZero"/>
        <c:auto val="1"/>
        <c:lblAlgn val="ctr"/>
        <c:lblOffset val="100"/>
        <c:noMultiLvlLbl val="0"/>
      </c:catAx>
      <c:valAx>
        <c:axId val="-2113994440"/>
        <c:scaling>
          <c:max val="1.0"/>
          <c:min val="0.6"/>
        </c:scaling>
        <c:delete val="0"/>
        <c:axPos val="l"/>
        <c:majorGridlines>
          <c:spPr>
            <a:ln>
              <a:solidFill>
                <a:srgbClr val="DDDDDD"/>
              </a:solidFill>
            </a:ln>
          </c:spPr>
        </c:majorGridlines>
        <c:majorTickMark val="out"/>
        <c:minorTickMark val="none"/>
        <c:tickLblPos val="nextTo"/>
        <c:txPr>
          <a:bodyPr/>
          <a:lstStyle/>
          <a:p>
            <a:pPr>
              <a:defRPr sz="1200"/>
            </a:pPr>
          </a:p>
        </c:txPr>
        <c:crossAx val="-2068027336"/>
        <c:crosses val="autoZero"/>
      </c:valAx>
    </c:plotArea>
    <c:legend>
      <c:legendPos val="t"/>
      <c:overlay val="0"/>
      <c:txPr>
        <a:bodyPr/>
        <a:lstStyle/>
        <a:p>
          <a:pPr>
            <a:defRPr sz="1300"/>
          </a:pPr>
        </a:p>
      </c:txPr>
    </c:legend>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Greet the panel. One line: 'My project predicts whether a loan application will be approved or rejected using machine learning on a public dataset of 614 applications.' Keep this slide short.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Stress the two kinds of mistakes. They cost different amounts, and that is why we report precision AND recall instead of just accuracy. Technically this is supervised binary classification on tabular data.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where the data is from before anyone asks: a public teaching dataset. The 69/31 imbalance means a model that always says 'approve' already gets 69% accuracy, so accuracy alone is not enough.</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Tell the story: credit history dominates. Skewed income means we fill missing values with the MEDIAN, not the mean. Raw income on its own is weak, which motivated the affordability features.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down the table quickly. Point out the last column: it comes from our measured permutation importance (slide 12), not guesswork. Loan_ID is dropped because a unique ID has no meaning and could only be memorised.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our main modification. The formulas use only the applicant's own row and learn nothing from the data, so there is no leakage. Evidence: LR's ROC-AUC improved and two engineered features ranked right after Credit_History in the forest.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Define data leakage in one line: 'information from the test set sneaking into training and inflating the score.' The Pipeline makes it impossible because .fit() only ever sees X_train.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Sigmoid: the S-curve mapping any score into 0 to 1, read as a probability. Gini: how mixed a node is; the tree picks splits that make nodes purer. Random Forest = bagging + random feature subsets. We added it as a modification.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cross-validation? One test set of 123 rows is a single lucky or unlucky draw. CV gives an average and a spread. We pick the model on CV F1 so the test set never influences the choice.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Quote the numbers from the chart. Be honest that the three models are close (CV F1 0.863 to 0.867), so the forest wins narrowly. Logistic Regression has the best test ROC-AUC (0.870) and is simpler, which is a fair alternative choice.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one matrix aloud: rows = truth, columns = prediction. Admit the weakness yourself. The model rarely rejects a good customer but lets some risky ones through. Fix ideas: class weights or a higher decision threshold.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answers 'explain the features'. Shuffling a raw income column also scrambles the engineered features built from it, so each bar is the total value of that input. Fairness point: sensitive attributes contribute nothing and could be dropped.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 the app live if allowed. Flip Credit History to 0 and show every model switching to REJECTED. That connects the demo to the feature-importance slide.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Mention a limitation before anyone asks; examiners reward self-awareness. Then thank the panel.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3D3E"/>
        </a:solidFill>
        <a:effectLst/>
      </p:bgPr>
    </p:bg>
    <p:spTree>
      <p:nvGrpSpPr>
        <p:cNvPr id="1" name=""/>
        <p:cNvGrpSpPr/>
        <p:nvPr/>
      </p:nvGrpSpPr>
      <p:grpSpPr/>
      <p:sp>
        <p:nvSpPr>
          <p:cNvPr id="2" name="TextBox 1"/>
          <p:cNvSpPr txBox="1"/>
          <p:nvPr/>
        </p:nvSpPr>
        <p:spPr>
          <a:xfrm>
            <a:off x="822960" y="1371600"/>
            <a:ext cx="10058400" cy="365760"/>
          </a:xfrm>
          <a:prstGeom prst="rect">
            <a:avLst/>
          </a:prstGeom>
          <a:noFill/>
        </p:spPr>
        <p:txBody>
          <a:bodyPr wrap="square" anchor="t" lIns="45720" rIns="45720">
            <a:spAutoFit/>
          </a:bodyPr>
          <a:lstStyle/>
          <a:p>
            <a:pPr algn="l">
              <a:spcAft>
                <a:spcPts val="600"/>
              </a:spcAft>
            </a:pPr>
            <a:r>
              <a:rPr sz="1400" b="1" i="0">
                <a:solidFill>
                  <a:srgbClr val="E3A72F"/>
                </a:solidFill>
                <a:latin typeface="Calibri"/>
              </a:rPr>
              <a:t>AI COURSE PROJECT  ·  2ND YEAR</a:t>
            </a:r>
          </a:p>
        </p:txBody>
      </p:sp>
      <p:sp>
        <p:nvSpPr>
          <p:cNvPr id="3" name="TextBox 2"/>
          <p:cNvSpPr txBox="1"/>
          <p:nvPr/>
        </p:nvSpPr>
        <p:spPr>
          <a:xfrm>
            <a:off x="822960" y="1828800"/>
            <a:ext cx="10515600" cy="1097280"/>
          </a:xfrm>
          <a:prstGeom prst="rect">
            <a:avLst/>
          </a:prstGeom>
          <a:noFill/>
        </p:spPr>
        <p:txBody>
          <a:bodyPr wrap="square" anchor="t" lIns="45720" rIns="45720">
            <a:spAutoFit/>
          </a:bodyPr>
          <a:lstStyle/>
          <a:p>
            <a:pPr algn="l">
              <a:spcAft>
                <a:spcPts val="600"/>
              </a:spcAft>
            </a:pPr>
            <a:r>
              <a:rPr sz="5400" b="1" i="0">
                <a:solidFill>
                  <a:srgbClr val="FFFFFF"/>
                </a:solidFill>
                <a:latin typeface="Cambria"/>
              </a:rPr>
              <a:t>Loan Approval Prediction</a:t>
            </a:r>
          </a:p>
        </p:txBody>
      </p:sp>
      <p:sp>
        <p:nvSpPr>
          <p:cNvPr id="4" name="TextBox 3"/>
          <p:cNvSpPr txBox="1"/>
          <p:nvPr/>
        </p:nvSpPr>
        <p:spPr>
          <a:xfrm>
            <a:off x="822960" y="2926080"/>
            <a:ext cx="10058400" cy="731520"/>
          </a:xfrm>
          <a:prstGeom prst="rect">
            <a:avLst/>
          </a:prstGeom>
          <a:noFill/>
        </p:spPr>
        <p:txBody>
          <a:bodyPr wrap="square" anchor="t" lIns="45720" rIns="45720">
            <a:spAutoFit/>
          </a:bodyPr>
          <a:lstStyle/>
          <a:p>
            <a:pPr algn="l">
              <a:spcAft>
                <a:spcPts val="600"/>
              </a:spcAft>
            </a:pPr>
            <a:r>
              <a:rPr sz="2200" b="0" i="0">
                <a:solidFill>
                  <a:srgbClr val="EAF3F0"/>
                </a:solidFill>
                <a:latin typeface="Calibri"/>
              </a:rPr>
              <a:t>Predicting whether a loan will be approved, using machine learning on applicant data</a:t>
            </a:r>
          </a:p>
        </p:txBody>
      </p:sp>
      <p:sp>
        <p:nvSpPr>
          <p:cNvPr id="5" name="TextBox 4"/>
          <p:cNvSpPr txBox="1"/>
          <p:nvPr/>
        </p:nvSpPr>
        <p:spPr>
          <a:xfrm>
            <a:off x="822960" y="4846320"/>
            <a:ext cx="10058400" cy="914400"/>
          </a:xfrm>
          <a:prstGeom prst="rect">
            <a:avLst/>
          </a:prstGeom>
          <a:noFill/>
        </p:spPr>
        <p:txBody>
          <a:bodyPr wrap="square" anchor="t" lIns="45720" rIns="45720">
            <a:spAutoFit/>
          </a:bodyPr>
          <a:lstStyle/>
          <a:p>
            <a:pPr algn="l">
              <a:spcAft>
                <a:spcPts val="600"/>
              </a:spcAft>
            </a:pPr>
            <a:r>
              <a:rPr sz="1600" b="0" i="0">
                <a:solidFill>
                  <a:srgbClr val="FFFFFF"/>
                </a:solidFill>
                <a:latin typeface="Calibri"/>
              </a:rPr>
              <a:t>Presented by:  &lt;Your Name&gt;   ·   Roll No: &lt;...&gt;</a:t>
            </a:r>
          </a:p>
          <a:p>
            <a:pPr algn="l">
              <a:spcAft>
                <a:spcPts val="600"/>
              </a:spcAft>
            </a:pPr>
            <a:r>
              <a:rPr sz="1600" b="0" i="0">
                <a:solidFill>
                  <a:srgbClr val="FFFFFF"/>
                </a:solidFill>
                <a:latin typeface="Calibri"/>
              </a:rPr>
              <a:t>Guide: &lt;...&gt;   ·   &lt;College name&gt;   ·   &lt;Date&gt;</a:t>
            </a:r>
          </a:p>
        </p:txBody>
      </p:sp>
      <p:sp>
        <p:nvSpPr>
          <p:cNvPr id="6" name="TextBox 5"/>
          <p:cNvSpPr txBox="1"/>
          <p:nvPr/>
        </p:nvSpPr>
        <p:spPr>
          <a:xfrm>
            <a:off x="10881360" y="6400800"/>
            <a:ext cx="822960" cy="274320"/>
          </a:xfrm>
          <a:prstGeom prst="rect">
            <a:avLst/>
          </a:prstGeom>
          <a:noFill/>
        </p:spPr>
        <p:txBody>
          <a:bodyPr wrap="square" anchor="t" lIns="45720" rIns="45720">
            <a:spAutoFit/>
          </a:bodyPr>
          <a:lstStyle/>
          <a:p>
            <a:pPr algn="r">
              <a:spcAft>
                <a:spcPts val="600"/>
              </a:spcAft>
            </a:pPr>
            <a:r>
              <a:rPr sz="1000" b="0" i="0">
                <a:solidFill>
                  <a:srgbClr val="EAF3F0"/>
                </a:solidFill>
                <a:latin typeface="Calibri"/>
              </a:rPr>
              <a:t>1 / 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64240" cy="777240"/>
          </a:xfrm>
          <a:prstGeom prst="rect">
            <a:avLst/>
          </a:prstGeom>
          <a:noFill/>
        </p:spPr>
        <p:txBody>
          <a:bodyPr wrap="square" anchor="ctr" lIns="45720" rIns="45720">
            <a:spAutoFit/>
          </a:bodyPr>
          <a:lstStyle/>
          <a:p>
            <a:pPr algn="l">
              <a:spcAft>
                <a:spcPts val="600"/>
              </a:spcAft>
            </a:pPr>
            <a:r>
              <a:rPr sz="3400" b="1" i="0">
                <a:solidFill>
                  <a:srgbClr val="0F3D3E"/>
                </a:solidFill>
                <a:latin typeface="Cambria"/>
              </a:rPr>
              <a:t>The problem</a:t>
            </a:r>
          </a:p>
        </p:txBody>
      </p:sp>
      <p:sp>
        <p:nvSpPr>
          <p:cNvPr id="3" name="TextBox 2"/>
          <p:cNvSpPr txBox="1"/>
          <p:nvPr/>
        </p:nvSpPr>
        <p:spPr>
          <a:xfrm>
            <a:off x="548640" y="1234440"/>
            <a:ext cx="10972800" cy="731520"/>
          </a:xfrm>
          <a:prstGeom prst="rect">
            <a:avLst/>
          </a:prstGeom>
          <a:noFill/>
        </p:spPr>
        <p:txBody>
          <a:bodyPr wrap="square" anchor="t" lIns="45720" rIns="45720">
            <a:spAutoFit/>
          </a:bodyPr>
          <a:lstStyle/>
          <a:p>
            <a:pPr algn="l">
              <a:spcAft>
                <a:spcPts val="600"/>
              </a:spcAft>
            </a:pPr>
            <a:r>
              <a:rPr sz="1800" b="0" i="0">
                <a:solidFill>
                  <a:srgbClr val="5B6B6B"/>
                </a:solidFill>
                <a:latin typeface="Calibri"/>
              </a:rPr>
              <a:t>Banks receive thousands of loan applications. Checking each one by hand is slow, inconsistent and subjective.</a:t>
            </a:r>
          </a:p>
        </p:txBody>
      </p:sp>
      <p:sp>
        <p:nvSpPr>
          <p:cNvPr id="4" name="Rounded Rectangle 3"/>
          <p:cNvSpPr/>
          <p:nvPr/>
        </p:nvSpPr>
        <p:spPr>
          <a:xfrm>
            <a:off x="548640" y="2240280"/>
            <a:ext cx="5349240" cy="1737360"/>
          </a:xfrm>
          <a:prstGeom prst="roundRect">
            <a:avLst>
              <a:gd name="adj" fmla="val 8000"/>
            </a:avLst>
          </a:prstGeom>
          <a:solidFill>
            <a:srgbClr val="EAF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59" y="2377440"/>
            <a:ext cx="4846320" cy="457200"/>
          </a:xfrm>
          <a:prstGeom prst="rect">
            <a:avLst/>
          </a:prstGeom>
          <a:noFill/>
        </p:spPr>
        <p:txBody>
          <a:bodyPr wrap="square" anchor="t" lIns="45720" rIns="45720">
            <a:spAutoFit/>
          </a:bodyPr>
          <a:lstStyle/>
          <a:p>
            <a:pPr algn="l">
              <a:spcAft>
                <a:spcPts val="600"/>
              </a:spcAft>
            </a:pPr>
            <a:r>
              <a:rPr sz="1900" b="1" i="0">
                <a:solidFill>
                  <a:srgbClr val="B5443C"/>
                </a:solidFill>
                <a:latin typeface="Calibri"/>
              </a:rPr>
              <a:t>Mistake 1: approve a risky applicant</a:t>
            </a:r>
          </a:p>
        </p:txBody>
      </p:sp>
      <p:sp>
        <p:nvSpPr>
          <p:cNvPr id="6" name="TextBox 5"/>
          <p:cNvSpPr txBox="1"/>
          <p:nvPr/>
        </p:nvSpPr>
        <p:spPr>
          <a:xfrm>
            <a:off x="822959" y="2880360"/>
            <a:ext cx="4846320" cy="1005840"/>
          </a:xfrm>
          <a:prstGeom prst="rect">
            <a:avLst/>
          </a:prstGeom>
          <a:noFill/>
        </p:spPr>
        <p:txBody>
          <a:bodyPr wrap="square" anchor="t" lIns="45720" rIns="45720">
            <a:spAutoFit/>
          </a:bodyPr>
          <a:lstStyle/>
          <a:p>
            <a:pPr algn="l">
              <a:spcAft>
                <a:spcPts val="600"/>
              </a:spcAft>
            </a:pPr>
            <a:r>
              <a:rPr sz="1600" b="0" i="0">
                <a:solidFill>
                  <a:srgbClr val="1E2B2B"/>
                </a:solidFill>
                <a:latin typeface="Calibri"/>
              </a:rPr>
              <a:t>The customer defaults and the bank loses money (a false positive).</a:t>
            </a:r>
          </a:p>
        </p:txBody>
      </p:sp>
      <p:sp>
        <p:nvSpPr>
          <p:cNvPr id="7" name="Rounded Rectangle 6"/>
          <p:cNvSpPr/>
          <p:nvPr/>
        </p:nvSpPr>
        <p:spPr>
          <a:xfrm>
            <a:off x="6172200" y="2240280"/>
            <a:ext cx="5349240" cy="1737360"/>
          </a:xfrm>
          <a:prstGeom prst="roundRect">
            <a:avLst>
              <a:gd name="adj" fmla="val 8000"/>
            </a:avLst>
          </a:prstGeom>
          <a:solidFill>
            <a:srgbClr val="EAF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46520" y="2377440"/>
            <a:ext cx="4846320" cy="457200"/>
          </a:xfrm>
          <a:prstGeom prst="rect">
            <a:avLst/>
          </a:prstGeom>
          <a:noFill/>
        </p:spPr>
        <p:txBody>
          <a:bodyPr wrap="square" anchor="t" lIns="45720" rIns="45720">
            <a:spAutoFit/>
          </a:bodyPr>
          <a:lstStyle/>
          <a:p>
            <a:pPr algn="l">
              <a:spcAft>
                <a:spcPts val="600"/>
              </a:spcAft>
            </a:pPr>
            <a:r>
              <a:rPr sz="1900" b="1" i="0">
                <a:solidFill>
                  <a:srgbClr val="E3A72F"/>
                </a:solidFill>
                <a:latin typeface="Calibri"/>
              </a:rPr>
              <a:t>Mistake 2: reject a good applicant</a:t>
            </a:r>
          </a:p>
        </p:txBody>
      </p:sp>
      <p:sp>
        <p:nvSpPr>
          <p:cNvPr id="9" name="TextBox 8"/>
          <p:cNvSpPr txBox="1"/>
          <p:nvPr/>
        </p:nvSpPr>
        <p:spPr>
          <a:xfrm>
            <a:off x="6446520" y="2880360"/>
            <a:ext cx="4846320" cy="1005840"/>
          </a:xfrm>
          <a:prstGeom prst="rect">
            <a:avLst/>
          </a:prstGeom>
          <a:noFill/>
        </p:spPr>
        <p:txBody>
          <a:bodyPr wrap="square" anchor="t" lIns="45720" rIns="45720">
            <a:spAutoFit/>
          </a:bodyPr>
          <a:lstStyle/>
          <a:p>
            <a:pPr algn="l">
              <a:spcAft>
                <a:spcPts val="600"/>
              </a:spcAft>
            </a:pPr>
            <a:r>
              <a:rPr sz="1600" b="0" i="0">
                <a:solidFill>
                  <a:srgbClr val="1E2B2B"/>
                </a:solidFill>
                <a:latin typeface="Calibri"/>
              </a:rPr>
              <a:t>The bank loses a good customer and the business (a false negative).</a:t>
            </a:r>
          </a:p>
        </p:txBody>
      </p:sp>
      <p:sp>
        <p:nvSpPr>
          <p:cNvPr id="10" name="Rounded Rectangle 9"/>
          <p:cNvSpPr/>
          <p:nvPr/>
        </p:nvSpPr>
        <p:spPr>
          <a:xfrm>
            <a:off x="548640" y="4343400"/>
            <a:ext cx="10972800" cy="1645920"/>
          </a:xfrm>
          <a:prstGeom prst="roundRect">
            <a:avLst>
              <a:gd name="adj" fmla="val 8000"/>
            </a:avLst>
          </a:prstGeom>
          <a:solidFill>
            <a:srgbClr val="0F3D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4526280"/>
            <a:ext cx="2743200" cy="365760"/>
          </a:xfrm>
          <a:prstGeom prst="rect">
            <a:avLst/>
          </a:prstGeom>
          <a:noFill/>
        </p:spPr>
        <p:txBody>
          <a:bodyPr wrap="square" anchor="t" lIns="45720" rIns="45720">
            <a:spAutoFit/>
          </a:bodyPr>
          <a:lstStyle/>
          <a:p>
            <a:pPr algn="l">
              <a:spcAft>
                <a:spcPts val="600"/>
              </a:spcAft>
            </a:pPr>
            <a:r>
              <a:rPr sz="1300" b="1" i="0">
                <a:solidFill>
                  <a:srgbClr val="E3A72F"/>
                </a:solidFill>
                <a:latin typeface="Calibri"/>
              </a:rPr>
              <a:t>OUR GOAL</a:t>
            </a:r>
          </a:p>
        </p:txBody>
      </p:sp>
      <p:sp>
        <p:nvSpPr>
          <p:cNvPr id="12" name="TextBox 11"/>
          <p:cNvSpPr txBox="1"/>
          <p:nvPr/>
        </p:nvSpPr>
        <p:spPr>
          <a:xfrm>
            <a:off x="868680" y="4892040"/>
            <a:ext cx="10332720" cy="914400"/>
          </a:xfrm>
          <a:prstGeom prst="rect">
            <a:avLst/>
          </a:prstGeom>
          <a:noFill/>
        </p:spPr>
        <p:txBody>
          <a:bodyPr wrap="square" anchor="t" lIns="45720" rIns="45720">
            <a:spAutoFit/>
          </a:bodyPr>
          <a:lstStyle/>
          <a:p>
            <a:pPr algn="l">
              <a:spcAft>
                <a:spcPts val="600"/>
              </a:spcAft>
            </a:pPr>
            <a:r>
              <a:rPr sz="2000" b="0" i="0">
                <a:solidFill>
                  <a:srgbClr val="FFFFFF"/>
                </a:solidFill>
                <a:latin typeface="Calibri"/>
              </a:rPr>
              <a:t>Learn from past applications and predict Approved / Rejected automatically, and explain which features drive the decision.</a:t>
            </a:r>
          </a:p>
        </p:txBody>
      </p:sp>
      <p:sp>
        <p:nvSpPr>
          <p:cNvPr id="13" name="TextBox 12"/>
          <p:cNvSpPr txBox="1"/>
          <p:nvPr/>
        </p:nvSpPr>
        <p:spPr>
          <a:xfrm>
            <a:off x="10881360" y="6400800"/>
            <a:ext cx="822960" cy="274320"/>
          </a:xfrm>
          <a:prstGeom prst="rect">
            <a:avLst/>
          </a:prstGeom>
          <a:noFill/>
        </p:spPr>
        <p:txBody>
          <a:bodyPr wrap="square" anchor="t" lIns="45720" rIns="45720">
            <a:spAutoFit/>
          </a:bodyPr>
          <a:lstStyle/>
          <a:p>
            <a:pPr algn="r">
              <a:spcAft>
                <a:spcPts val="600"/>
              </a:spcAft>
            </a:pPr>
            <a:r>
              <a:rPr sz="1000" b="0" i="0">
                <a:solidFill>
                  <a:srgbClr val="5B6B6B"/>
                </a:solidFill>
                <a:latin typeface="Calibri"/>
              </a:rPr>
              <a:t>2 / 14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64240" cy="777240"/>
          </a:xfrm>
          <a:prstGeom prst="rect">
            <a:avLst/>
          </a:prstGeom>
          <a:noFill/>
        </p:spPr>
        <p:txBody>
          <a:bodyPr wrap="square" anchor="ctr" lIns="45720" rIns="45720">
            <a:spAutoFit/>
          </a:bodyPr>
          <a:lstStyle/>
          <a:p>
            <a:pPr algn="l">
              <a:spcAft>
                <a:spcPts val="600"/>
              </a:spcAft>
            </a:pPr>
            <a:r>
              <a:rPr sz="3400" b="1" i="0">
                <a:solidFill>
                  <a:srgbClr val="0F3D3E"/>
                </a:solidFill>
                <a:latin typeface="Cambria"/>
              </a:rPr>
              <a:t>The dataset</a:t>
            </a:r>
          </a:p>
        </p:txBody>
      </p:sp>
      <p:sp>
        <p:nvSpPr>
          <p:cNvPr id="3" name="Rounded Rectangle 2"/>
          <p:cNvSpPr/>
          <p:nvPr/>
        </p:nvSpPr>
        <p:spPr>
          <a:xfrm>
            <a:off x="548640" y="1325880"/>
            <a:ext cx="2606040" cy="1691640"/>
          </a:xfrm>
          <a:prstGeom prst="roundRect">
            <a:avLst>
              <a:gd name="adj" fmla="val 8000"/>
            </a:avLst>
          </a:prstGeom>
          <a:solidFill>
            <a:srgbClr val="EAF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417320"/>
            <a:ext cx="2194560" cy="914400"/>
          </a:xfrm>
          <a:prstGeom prst="rect">
            <a:avLst/>
          </a:prstGeom>
          <a:noFill/>
        </p:spPr>
        <p:txBody>
          <a:bodyPr wrap="square" anchor="t" lIns="45720" rIns="45720">
            <a:spAutoFit/>
          </a:bodyPr>
          <a:lstStyle/>
          <a:p>
            <a:pPr algn="l">
              <a:spcAft>
                <a:spcPts val="600"/>
              </a:spcAft>
            </a:pPr>
            <a:r>
              <a:rPr sz="4400" b="1" i="0">
                <a:solidFill>
                  <a:srgbClr val="0F3D3E"/>
                </a:solidFill>
                <a:latin typeface="Cambria"/>
              </a:rPr>
              <a:t>614</a:t>
            </a:r>
          </a:p>
        </p:txBody>
      </p:sp>
      <p:sp>
        <p:nvSpPr>
          <p:cNvPr id="5" name="TextBox 4"/>
          <p:cNvSpPr txBox="1"/>
          <p:nvPr/>
        </p:nvSpPr>
        <p:spPr>
          <a:xfrm>
            <a:off x="777240" y="2286000"/>
            <a:ext cx="2240280" cy="640080"/>
          </a:xfrm>
          <a:prstGeom prst="rect">
            <a:avLst/>
          </a:prstGeom>
          <a:noFill/>
        </p:spPr>
        <p:txBody>
          <a:bodyPr wrap="square" anchor="t" lIns="45720" rIns="45720">
            <a:spAutoFit/>
          </a:bodyPr>
          <a:lstStyle/>
          <a:p>
            <a:pPr algn="l">
              <a:spcAft>
                <a:spcPts val="600"/>
              </a:spcAft>
            </a:pPr>
            <a:r>
              <a:rPr sz="1400" b="0" i="0">
                <a:solidFill>
                  <a:srgbClr val="5B6B6B"/>
                </a:solidFill>
                <a:latin typeface="Calibri"/>
              </a:rPr>
              <a:t>loan applications</a:t>
            </a:r>
          </a:p>
        </p:txBody>
      </p:sp>
      <p:sp>
        <p:nvSpPr>
          <p:cNvPr id="6" name="Rounded Rectangle 5"/>
          <p:cNvSpPr/>
          <p:nvPr/>
        </p:nvSpPr>
        <p:spPr>
          <a:xfrm>
            <a:off x="3364992" y="1325880"/>
            <a:ext cx="2606040" cy="1691640"/>
          </a:xfrm>
          <a:prstGeom prst="roundRect">
            <a:avLst>
              <a:gd name="adj" fmla="val 8000"/>
            </a:avLst>
          </a:prstGeom>
          <a:solidFill>
            <a:srgbClr val="EAF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593592" y="1417320"/>
            <a:ext cx="2194560" cy="914400"/>
          </a:xfrm>
          <a:prstGeom prst="rect">
            <a:avLst/>
          </a:prstGeom>
          <a:noFill/>
        </p:spPr>
        <p:txBody>
          <a:bodyPr wrap="square" anchor="t" lIns="45720" rIns="45720">
            <a:spAutoFit/>
          </a:bodyPr>
          <a:lstStyle/>
          <a:p>
            <a:pPr algn="l">
              <a:spcAft>
                <a:spcPts val="600"/>
              </a:spcAft>
            </a:pPr>
            <a:r>
              <a:rPr sz="4400" b="1" i="0">
                <a:solidFill>
                  <a:srgbClr val="0F3D3E"/>
                </a:solidFill>
                <a:latin typeface="Cambria"/>
              </a:rPr>
              <a:t>13</a:t>
            </a:r>
          </a:p>
        </p:txBody>
      </p:sp>
      <p:sp>
        <p:nvSpPr>
          <p:cNvPr id="8" name="TextBox 7"/>
          <p:cNvSpPr txBox="1"/>
          <p:nvPr/>
        </p:nvSpPr>
        <p:spPr>
          <a:xfrm>
            <a:off x="3593592" y="2286000"/>
            <a:ext cx="2240280" cy="640080"/>
          </a:xfrm>
          <a:prstGeom prst="rect">
            <a:avLst/>
          </a:prstGeom>
          <a:noFill/>
        </p:spPr>
        <p:txBody>
          <a:bodyPr wrap="square" anchor="t" lIns="45720" rIns="45720">
            <a:spAutoFit/>
          </a:bodyPr>
          <a:lstStyle/>
          <a:p>
            <a:pPr algn="l">
              <a:spcAft>
                <a:spcPts val="600"/>
              </a:spcAft>
            </a:pPr>
            <a:r>
              <a:rPr sz="1400" b="0" i="0">
                <a:solidFill>
                  <a:srgbClr val="5B6B6B"/>
                </a:solidFill>
                <a:latin typeface="Calibri"/>
              </a:rPr>
              <a:t>columns (11 used as inputs)</a:t>
            </a:r>
          </a:p>
        </p:txBody>
      </p:sp>
      <p:sp>
        <p:nvSpPr>
          <p:cNvPr id="9" name="Rounded Rectangle 8"/>
          <p:cNvSpPr/>
          <p:nvPr/>
        </p:nvSpPr>
        <p:spPr>
          <a:xfrm>
            <a:off x="6181344" y="1325880"/>
            <a:ext cx="2606040" cy="1691640"/>
          </a:xfrm>
          <a:prstGeom prst="roundRect">
            <a:avLst>
              <a:gd name="adj" fmla="val 8000"/>
            </a:avLst>
          </a:prstGeom>
          <a:solidFill>
            <a:srgbClr val="EAF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9944" y="1417320"/>
            <a:ext cx="2194560" cy="914400"/>
          </a:xfrm>
          <a:prstGeom prst="rect">
            <a:avLst/>
          </a:prstGeom>
          <a:noFill/>
        </p:spPr>
        <p:txBody>
          <a:bodyPr wrap="square" anchor="t" lIns="45720" rIns="45720">
            <a:spAutoFit/>
          </a:bodyPr>
          <a:lstStyle/>
          <a:p>
            <a:pPr algn="l">
              <a:spcAft>
                <a:spcPts val="600"/>
              </a:spcAft>
            </a:pPr>
            <a:r>
              <a:rPr sz="4400" b="1" i="0">
                <a:solidFill>
                  <a:srgbClr val="0F3D3E"/>
                </a:solidFill>
                <a:latin typeface="Cambria"/>
              </a:rPr>
              <a:t>68.7%</a:t>
            </a:r>
          </a:p>
        </p:txBody>
      </p:sp>
      <p:sp>
        <p:nvSpPr>
          <p:cNvPr id="11" name="TextBox 10"/>
          <p:cNvSpPr txBox="1"/>
          <p:nvPr/>
        </p:nvSpPr>
        <p:spPr>
          <a:xfrm>
            <a:off x="6409944" y="2286000"/>
            <a:ext cx="2240280" cy="640080"/>
          </a:xfrm>
          <a:prstGeom prst="rect">
            <a:avLst/>
          </a:prstGeom>
          <a:noFill/>
        </p:spPr>
        <p:txBody>
          <a:bodyPr wrap="square" anchor="t" lIns="45720" rIns="45720">
            <a:spAutoFit/>
          </a:bodyPr>
          <a:lstStyle/>
          <a:p>
            <a:pPr algn="l">
              <a:spcAft>
                <a:spcPts val="600"/>
              </a:spcAft>
            </a:pPr>
            <a:r>
              <a:rPr sz="1400" b="0" i="0">
                <a:solidFill>
                  <a:srgbClr val="5B6B6B"/>
                </a:solidFill>
                <a:latin typeface="Calibri"/>
              </a:rPr>
              <a:t>approved: imbalanced classes</a:t>
            </a:r>
          </a:p>
        </p:txBody>
      </p:sp>
      <p:sp>
        <p:nvSpPr>
          <p:cNvPr id="12" name="Rounded Rectangle 11"/>
          <p:cNvSpPr/>
          <p:nvPr/>
        </p:nvSpPr>
        <p:spPr>
          <a:xfrm>
            <a:off x="8997696" y="1325880"/>
            <a:ext cx="2606040" cy="1691640"/>
          </a:xfrm>
          <a:prstGeom prst="roundRect">
            <a:avLst>
              <a:gd name="adj" fmla="val 8000"/>
            </a:avLst>
          </a:prstGeom>
          <a:solidFill>
            <a:srgbClr val="EAF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226296" y="1417320"/>
            <a:ext cx="2194560" cy="914400"/>
          </a:xfrm>
          <a:prstGeom prst="rect">
            <a:avLst/>
          </a:prstGeom>
          <a:noFill/>
        </p:spPr>
        <p:txBody>
          <a:bodyPr wrap="square" anchor="t" lIns="45720" rIns="45720">
            <a:spAutoFit/>
          </a:bodyPr>
          <a:lstStyle/>
          <a:p>
            <a:pPr algn="l">
              <a:spcAft>
                <a:spcPts val="600"/>
              </a:spcAft>
            </a:pPr>
            <a:r>
              <a:rPr sz="4400" b="1" i="0">
                <a:solidFill>
                  <a:srgbClr val="0F3D3E"/>
                </a:solidFill>
                <a:latin typeface="Cambria"/>
              </a:rPr>
              <a:t>149</a:t>
            </a:r>
          </a:p>
        </p:txBody>
      </p:sp>
      <p:sp>
        <p:nvSpPr>
          <p:cNvPr id="14" name="TextBox 13"/>
          <p:cNvSpPr txBox="1"/>
          <p:nvPr/>
        </p:nvSpPr>
        <p:spPr>
          <a:xfrm>
            <a:off x="9226296" y="2286000"/>
            <a:ext cx="2240280" cy="640080"/>
          </a:xfrm>
          <a:prstGeom prst="rect">
            <a:avLst/>
          </a:prstGeom>
          <a:noFill/>
        </p:spPr>
        <p:txBody>
          <a:bodyPr wrap="square" anchor="t" lIns="45720" rIns="45720">
            <a:spAutoFit/>
          </a:bodyPr>
          <a:lstStyle/>
          <a:p>
            <a:pPr algn="l">
              <a:spcAft>
                <a:spcPts val="600"/>
              </a:spcAft>
            </a:pPr>
            <a:r>
              <a:rPr sz="1400" b="0" i="0">
                <a:solidFill>
                  <a:srgbClr val="5B6B6B"/>
                </a:solidFill>
                <a:latin typeface="Calibri"/>
              </a:rPr>
              <a:t>missing cells in 7 columns</a:t>
            </a:r>
          </a:p>
        </p:txBody>
      </p:sp>
      <p:sp>
        <p:nvSpPr>
          <p:cNvPr id="15" name="TextBox 14"/>
          <p:cNvSpPr txBox="1"/>
          <p:nvPr/>
        </p:nvSpPr>
        <p:spPr>
          <a:xfrm>
            <a:off x="548640" y="3429000"/>
            <a:ext cx="6400800" cy="2834640"/>
          </a:xfrm>
          <a:prstGeom prst="rect">
            <a:avLst/>
          </a:prstGeom>
          <a:noFill/>
        </p:spPr>
        <p:txBody>
          <a:bodyPr wrap="square">
            <a:spAutoFit/>
          </a:bodyPr>
          <a:lstStyle/>
          <a:p>
            <a:pPr marL="256032" indent="-228600">
              <a:spcAft>
                <a:spcPts val="800"/>
              </a:spcAft>
              <a:buChar char="•"/>
            </a:pPr>
            <a:r>
              <a:rPr sz="1600" b="1">
                <a:solidFill>
                  <a:srgbClr val="1E2B2B"/>
                </a:solidFill>
                <a:latin typeface="Calibri"/>
              </a:rPr>
              <a:t>Source: </a:t>
            </a:r>
            <a:r>
              <a:rPr sz="1600" b="0">
                <a:solidFill>
                  <a:srgbClr val="1E2B2B"/>
                </a:solidFill>
                <a:latin typeface="Calibri"/>
              </a:rPr>
              <a:t>Analytics Vidhya "Loan Prediction" practice problem (public; also on Kaggle).</a:t>
            </a:r>
          </a:p>
          <a:p>
            <a:pPr marL="256032" indent="-228600">
              <a:spcAft>
                <a:spcPts val="800"/>
              </a:spcAft>
              <a:buChar char="•"/>
            </a:pPr>
            <a:r>
              <a:rPr sz="1600" b="1">
                <a:solidFill>
                  <a:srgbClr val="1E2B2B"/>
                </a:solidFill>
                <a:latin typeface="Calibri"/>
              </a:rPr>
              <a:t>Data: </a:t>
            </a:r>
            <a:r>
              <a:rPr sz="1600" b="0">
                <a:solidFill>
                  <a:srgbClr val="1E2B2B"/>
                </a:solidFill>
                <a:latin typeface="Calibri"/>
              </a:rPr>
              <a:t>fictional "Dream Housing Finance" sample data, not a real bank's records.</a:t>
            </a:r>
          </a:p>
          <a:p>
            <a:pPr marL="256032" indent="-228600">
              <a:spcAft>
                <a:spcPts val="800"/>
              </a:spcAft>
              <a:buChar char="•"/>
            </a:pPr>
            <a:r>
              <a:rPr sz="1600" b="1">
                <a:solidFill>
                  <a:srgbClr val="1E2B2B"/>
                </a:solidFill>
                <a:latin typeface="Calibri"/>
              </a:rPr>
              <a:t>Target: </a:t>
            </a:r>
            <a:r>
              <a:rPr sz="1600" b="0">
                <a:solidFill>
                  <a:srgbClr val="1E2B2B"/>
                </a:solidFill>
                <a:latin typeface="Calibri"/>
              </a:rPr>
              <a:t>Loan_Status, Y = approved (422) / N = rejected (192).</a:t>
            </a:r>
          </a:p>
          <a:p>
            <a:pPr marL="256032" indent="-228600">
              <a:spcAft>
                <a:spcPts val="800"/>
              </a:spcAft>
              <a:buChar char="•"/>
            </a:pPr>
            <a:r>
              <a:rPr sz="1600" b="1">
                <a:solidFill>
                  <a:srgbClr val="1E2B2B"/>
                </a:solidFill>
                <a:latin typeface="Calibri"/>
              </a:rPr>
              <a:t>Inputs: </a:t>
            </a:r>
            <a:r>
              <a:rPr sz="1600" b="0">
                <a:solidFill>
                  <a:srgbClr val="1E2B2B"/>
                </a:solidFill>
                <a:latin typeface="Calibri"/>
              </a:rPr>
              <a:t>6 categorical (Gender, Married, Dependents, Education, Self_Employed, Property_Area) and 5 numeric (2 incomes, LoanAmount, Term, Credit_History).</a:t>
            </a:r>
          </a:p>
        </p:txBody>
      </p:sp>
      <p:pic>
        <p:nvPicPr>
          <p:cNvPr id="16" name="Picture 15" descr="1_approval_vs_rejection.png"/>
          <p:cNvPicPr>
            <a:picLocks noChangeAspect="1"/>
          </p:cNvPicPr>
          <p:nvPr/>
        </p:nvPicPr>
        <p:blipFill>
          <a:blip r:embed="rId2"/>
          <a:stretch>
            <a:fillRect/>
          </a:stretch>
        </p:blipFill>
        <p:spPr>
          <a:xfrm>
            <a:off x="7269480" y="3291840"/>
            <a:ext cx="4251960" cy="2834640"/>
          </a:xfrm>
          <a:prstGeom prst="rect">
            <a:avLst/>
          </a:prstGeom>
        </p:spPr>
      </p:pic>
      <p:sp>
        <p:nvSpPr>
          <p:cNvPr id="17" name="TextBox 16"/>
          <p:cNvSpPr txBox="1"/>
          <p:nvPr/>
        </p:nvSpPr>
        <p:spPr>
          <a:xfrm>
            <a:off x="10881360" y="6400800"/>
            <a:ext cx="822960" cy="274320"/>
          </a:xfrm>
          <a:prstGeom prst="rect">
            <a:avLst/>
          </a:prstGeom>
          <a:noFill/>
        </p:spPr>
        <p:txBody>
          <a:bodyPr wrap="square" anchor="t" lIns="45720" rIns="45720">
            <a:spAutoFit/>
          </a:bodyPr>
          <a:lstStyle/>
          <a:p>
            <a:pPr algn="r">
              <a:spcAft>
                <a:spcPts val="600"/>
              </a:spcAft>
            </a:pPr>
            <a:r>
              <a:rPr sz="1000" b="0" i="0">
                <a:solidFill>
                  <a:srgbClr val="5B6B6B"/>
                </a:solidFill>
                <a:latin typeface="Calibri"/>
              </a:rPr>
              <a:t>3 / 14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64240" cy="777240"/>
          </a:xfrm>
          <a:prstGeom prst="rect">
            <a:avLst/>
          </a:prstGeom>
          <a:noFill/>
        </p:spPr>
        <p:txBody>
          <a:bodyPr wrap="square" anchor="ctr" lIns="45720" rIns="45720">
            <a:spAutoFit/>
          </a:bodyPr>
          <a:lstStyle/>
          <a:p>
            <a:pPr algn="l">
              <a:spcAft>
                <a:spcPts val="600"/>
              </a:spcAft>
            </a:pPr>
            <a:r>
              <a:rPr sz="3400" b="1" i="0">
                <a:solidFill>
                  <a:srgbClr val="0F3D3E"/>
                </a:solidFill>
                <a:latin typeface="Cambria"/>
              </a:rPr>
              <a:t>What the data told us (EDA)</a:t>
            </a:r>
          </a:p>
        </p:txBody>
      </p:sp>
      <p:pic>
        <p:nvPicPr>
          <p:cNvPr id="3" name="Picture 2" descr="4_credit_history_vs_approval.png"/>
          <p:cNvPicPr>
            <a:picLocks noChangeAspect="1"/>
          </p:cNvPicPr>
          <p:nvPr/>
        </p:nvPicPr>
        <p:blipFill>
          <a:blip r:embed="rId2"/>
          <a:stretch>
            <a:fillRect/>
          </a:stretch>
        </p:blipFill>
        <p:spPr>
          <a:xfrm>
            <a:off x="548640" y="1280160"/>
            <a:ext cx="6949440" cy="2527069"/>
          </a:xfrm>
          <a:prstGeom prst="rect">
            <a:avLst/>
          </a:prstGeom>
        </p:spPr>
      </p:pic>
      <p:sp>
        <p:nvSpPr>
          <p:cNvPr id="4" name="Rounded Rectangle 3"/>
          <p:cNvSpPr/>
          <p:nvPr/>
        </p:nvSpPr>
        <p:spPr>
          <a:xfrm>
            <a:off x="7863840" y="1280160"/>
            <a:ext cx="3749039" cy="2194560"/>
          </a:xfrm>
          <a:prstGeom prst="roundRect">
            <a:avLst>
              <a:gd name="adj" fmla="val 8000"/>
            </a:avLst>
          </a:prstGeom>
          <a:solidFill>
            <a:srgbClr val="0F3D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138160" y="1417320"/>
            <a:ext cx="3291840" cy="914400"/>
          </a:xfrm>
          <a:prstGeom prst="rect">
            <a:avLst/>
          </a:prstGeom>
          <a:noFill/>
        </p:spPr>
        <p:txBody>
          <a:bodyPr wrap="square" anchor="t" lIns="45720" rIns="45720">
            <a:spAutoFit/>
          </a:bodyPr>
          <a:lstStyle/>
          <a:p>
            <a:pPr algn="l">
              <a:spcAft>
                <a:spcPts val="600"/>
              </a:spcAft>
            </a:pPr>
            <a:r>
              <a:rPr sz="4400" b="1" i="0">
                <a:solidFill>
                  <a:srgbClr val="E3A72F"/>
                </a:solidFill>
                <a:latin typeface="Cambria"/>
              </a:rPr>
              <a:t>80% vs 8%</a:t>
            </a:r>
          </a:p>
        </p:txBody>
      </p:sp>
      <p:sp>
        <p:nvSpPr>
          <p:cNvPr id="6" name="TextBox 5"/>
          <p:cNvSpPr txBox="1"/>
          <p:nvPr/>
        </p:nvSpPr>
        <p:spPr>
          <a:xfrm>
            <a:off x="8138160" y="2331720"/>
            <a:ext cx="3291840" cy="1005840"/>
          </a:xfrm>
          <a:prstGeom prst="rect">
            <a:avLst/>
          </a:prstGeom>
          <a:noFill/>
        </p:spPr>
        <p:txBody>
          <a:bodyPr wrap="square" anchor="t" lIns="45720" rIns="45720">
            <a:spAutoFit/>
          </a:bodyPr>
          <a:lstStyle/>
          <a:p>
            <a:pPr algn="l">
              <a:spcAft>
                <a:spcPts val="600"/>
              </a:spcAft>
            </a:pPr>
            <a:r>
              <a:rPr sz="1600" b="0" i="0">
                <a:solidFill>
                  <a:srgbClr val="FFFFFF"/>
                </a:solidFill>
                <a:latin typeface="Calibri"/>
              </a:rPr>
              <a:t>approval rate with vs without a credit history (10× difference)</a:t>
            </a:r>
          </a:p>
        </p:txBody>
      </p:sp>
      <p:sp>
        <p:nvSpPr>
          <p:cNvPr id="7" name="TextBox 6"/>
          <p:cNvSpPr txBox="1"/>
          <p:nvPr/>
        </p:nvSpPr>
        <p:spPr>
          <a:xfrm>
            <a:off x="548640" y="4160520"/>
            <a:ext cx="11064240" cy="2194560"/>
          </a:xfrm>
          <a:prstGeom prst="rect">
            <a:avLst/>
          </a:prstGeom>
          <a:noFill/>
        </p:spPr>
        <p:txBody>
          <a:bodyPr wrap="square">
            <a:spAutoFit/>
          </a:bodyPr>
          <a:lstStyle/>
          <a:p>
            <a:pPr marL="256032" indent="-228600">
              <a:spcAft>
                <a:spcPts val="800"/>
              </a:spcAft>
              <a:buChar char="•"/>
            </a:pPr>
            <a:r>
              <a:rPr sz="1600" b="1">
                <a:solidFill>
                  <a:srgbClr val="1E2B2B"/>
                </a:solidFill>
                <a:latin typeface="Calibri"/>
              </a:rPr>
              <a:t>Income is very skewed: </a:t>
            </a:r>
            <a:r>
              <a:rPr sz="1600" b="0">
                <a:solidFill>
                  <a:srgbClr val="1E2B2B"/>
                </a:solidFill>
                <a:latin typeface="Calibri"/>
              </a:rPr>
              <a:t>median ₹3,812, mean ₹5,403, max ₹81,000 (skew 6.54).</a:t>
            </a:r>
          </a:p>
          <a:p>
            <a:pPr marL="256032" indent="-228600">
              <a:spcAft>
                <a:spcPts val="800"/>
              </a:spcAft>
              <a:buChar char="•"/>
            </a:pPr>
            <a:r>
              <a:rPr sz="1600" b="1">
                <a:solidFill>
                  <a:srgbClr val="1E2B2B"/>
                </a:solidFill>
                <a:latin typeface="Calibri"/>
              </a:rPr>
              <a:t>Property area has a mild effect: </a:t>
            </a:r>
            <a:r>
              <a:rPr sz="1600" b="0">
                <a:solidFill>
                  <a:srgbClr val="1E2B2B"/>
                </a:solidFill>
                <a:latin typeface="Calibri"/>
              </a:rPr>
              <a:t>Semiurban 77%, Urban 66%, Rural 61%.</a:t>
            </a:r>
          </a:p>
          <a:p>
            <a:pPr marL="256032" indent="-228600">
              <a:spcAft>
                <a:spcPts val="800"/>
              </a:spcAft>
              <a:buChar char="•"/>
            </a:pPr>
            <a:r>
              <a:rPr sz="1600" b="0">
                <a:solidFill>
                  <a:srgbClr val="1E2B2B"/>
                </a:solidFill>
                <a:latin typeface="Calibri"/>
              </a:rPr>
              <a:t>Income alone barely separates the classes, but income compared with the loan size does. This led to our engineered features.</a:t>
            </a:r>
          </a:p>
        </p:txBody>
      </p:sp>
      <p:sp>
        <p:nvSpPr>
          <p:cNvPr id="8" name="TextBox 7"/>
          <p:cNvSpPr txBox="1"/>
          <p:nvPr/>
        </p:nvSpPr>
        <p:spPr>
          <a:xfrm>
            <a:off x="10881360" y="6400800"/>
            <a:ext cx="822960" cy="274320"/>
          </a:xfrm>
          <a:prstGeom prst="rect">
            <a:avLst/>
          </a:prstGeom>
          <a:noFill/>
        </p:spPr>
        <p:txBody>
          <a:bodyPr wrap="square" anchor="t" lIns="45720" rIns="45720">
            <a:spAutoFit/>
          </a:bodyPr>
          <a:lstStyle/>
          <a:p>
            <a:pPr algn="r">
              <a:spcAft>
                <a:spcPts val="600"/>
              </a:spcAft>
            </a:pPr>
            <a:r>
              <a:rPr sz="1000" b="0" i="0">
                <a:solidFill>
                  <a:srgbClr val="5B6B6B"/>
                </a:solidFill>
                <a:latin typeface="Calibri"/>
              </a:rPr>
              <a:t>4 / 14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64240" cy="777240"/>
          </a:xfrm>
          <a:prstGeom prst="rect">
            <a:avLst/>
          </a:prstGeom>
          <a:noFill/>
        </p:spPr>
        <p:txBody>
          <a:bodyPr wrap="square" anchor="ctr" lIns="45720" rIns="45720">
            <a:spAutoFit/>
          </a:bodyPr>
          <a:lstStyle/>
          <a:p>
            <a:pPr algn="l">
              <a:spcAft>
                <a:spcPts val="600"/>
              </a:spcAft>
            </a:pPr>
            <a:r>
              <a:rPr sz="3400" b="1" i="0">
                <a:solidFill>
                  <a:srgbClr val="0F3D3E"/>
                </a:solidFill>
                <a:latin typeface="Cambria"/>
              </a:rPr>
              <a:t>Features used: the 11 raw inputs</a:t>
            </a:r>
          </a:p>
        </p:txBody>
      </p:sp>
      <p:graphicFrame>
        <p:nvGraphicFramePr>
          <p:cNvPr id="3" name="Table 2"/>
          <p:cNvGraphicFramePr>
            <a:graphicFrameLocks noGrp="1"/>
          </p:cNvGraphicFramePr>
          <p:nvPr/>
        </p:nvGraphicFramePr>
        <p:xfrm>
          <a:off x="548640" y="1280160"/>
          <a:ext cx="11064240" cy="4846320"/>
        </p:xfrm>
        <a:graphic>
          <a:graphicData uri="http://schemas.openxmlformats.org/drawingml/2006/table">
            <a:tbl>
              <a:tblPr firstRow="1" bandRow="1">
                <a:tableStyleId>{5C22544A-7EE6-4342-B048-85BDC9FD1C3A}</a:tableStyleId>
              </a:tblPr>
              <a:tblGrid>
                <a:gridCol w="3108960"/>
                <a:gridCol w="1737360"/>
                <a:gridCol w="4389120"/>
                <a:gridCol w="1828800"/>
              </a:tblGrid>
              <a:tr h="484632">
                <a:tc>
                  <a:txBody>
                    <a:bodyPr/>
                    <a:lstStyle/>
                    <a:p>
                      <a:r>
                        <a:rPr sz="1500" b="1">
                          <a:solidFill>
                            <a:srgbClr val="FFFFFF"/>
                          </a:solidFill>
                          <a:latin typeface="Calibri"/>
                        </a:rPr>
                        <a:t>Feature</a:t>
                      </a:r>
                    </a:p>
                  </a:txBody>
                  <a:tcPr marL="109728" anchor="ctr">
                    <a:solidFill>
                      <a:srgbClr val="0F3D3E"/>
                    </a:solidFill>
                  </a:tcPr>
                </a:tc>
                <a:tc>
                  <a:txBody>
                    <a:bodyPr/>
                    <a:lstStyle/>
                    <a:p>
                      <a:r>
                        <a:rPr sz="1500" b="1">
                          <a:solidFill>
                            <a:srgbClr val="FFFFFF"/>
                          </a:solidFill>
                          <a:latin typeface="Calibri"/>
                        </a:rPr>
                        <a:t>Type</a:t>
                      </a:r>
                    </a:p>
                  </a:txBody>
                  <a:tcPr marL="109728" anchor="ctr">
                    <a:solidFill>
                      <a:srgbClr val="0F3D3E"/>
                    </a:solidFill>
                  </a:tcPr>
                </a:tc>
                <a:tc>
                  <a:txBody>
                    <a:bodyPr/>
                    <a:lstStyle/>
                    <a:p>
                      <a:r>
                        <a:rPr sz="1500" b="1">
                          <a:solidFill>
                            <a:srgbClr val="FFFFFF"/>
                          </a:solidFill>
                          <a:latin typeface="Calibri"/>
                        </a:rPr>
                        <a:t>Meaning</a:t>
                      </a:r>
                    </a:p>
                  </a:txBody>
                  <a:tcPr marL="109728" anchor="ctr">
                    <a:solidFill>
                      <a:srgbClr val="0F3D3E"/>
                    </a:solidFill>
                  </a:tcPr>
                </a:tc>
                <a:tc>
                  <a:txBody>
                    <a:bodyPr/>
                    <a:lstStyle/>
                    <a:p>
                      <a:r>
                        <a:rPr sz="1500" b="1">
                          <a:solidFill>
                            <a:srgbClr val="FFFFFF"/>
                          </a:solidFill>
                          <a:latin typeface="Calibri"/>
                        </a:rPr>
                        <a:t>Signal</a:t>
                      </a:r>
                    </a:p>
                  </a:txBody>
                  <a:tcPr marL="109728" anchor="ctr">
                    <a:solidFill>
                      <a:srgbClr val="0F3D3E"/>
                    </a:solidFill>
                  </a:tcPr>
                </a:tc>
              </a:tr>
              <a:tr h="484632">
                <a:tc>
                  <a:txBody>
                    <a:bodyPr/>
                    <a:lstStyle/>
                    <a:p>
                      <a:r>
                        <a:rPr sz="1500" b="1">
                          <a:solidFill>
                            <a:srgbClr val="1E2B2B"/>
                          </a:solidFill>
                          <a:latin typeface="Calibri"/>
                        </a:rPr>
                        <a:t>Credit_History</a:t>
                      </a:r>
                    </a:p>
                  </a:txBody>
                  <a:tcPr marL="109728" anchor="ctr">
                    <a:solidFill>
                      <a:srgbClr val="EAF3F0"/>
                    </a:solidFill>
                  </a:tcPr>
                </a:tc>
                <a:tc>
                  <a:txBody>
                    <a:bodyPr/>
                    <a:lstStyle/>
                    <a:p>
                      <a:r>
                        <a:rPr sz="1500" b="0">
                          <a:solidFill>
                            <a:srgbClr val="1E2B2B"/>
                          </a:solidFill>
                          <a:latin typeface="Calibri"/>
                        </a:rPr>
                        <a:t>1 / 0</a:t>
                      </a:r>
                    </a:p>
                  </a:txBody>
                  <a:tcPr marL="109728" anchor="ctr">
                    <a:solidFill>
                      <a:srgbClr val="EAF3F0"/>
                    </a:solidFill>
                  </a:tcPr>
                </a:tc>
                <a:tc>
                  <a:txBody>
                    <a:bodyPr/>
                    <a:lstStyle/>
                    <a:p>
                      <a:r>
                        <a:rPr sz="1500" b="0">
                          <a:solidFill>
                            <a:srgbClr val="1E2B2B"/>
                          </a:solidFill>
                          <a:latin typeface="Calibri"/>
                        </a:rPr>
                        <a:t>Repaid past loans on time?</a:t>
                      </a:r>
                    </a:p>
                  </a:txBody>
                  <a:tcPr marL="109728" anchor="ctr">
                    <a:solidFill>
                      <a:srgbClr val="EAF3F0"/>
                    </a:solidFill>
                  </a:tcPr>
                </a:tc>
                <a:tc>
                  <a:txBody>
                    <a:bodyPr/>
                    <a:lstStyle/>
                    <a:p>
                      <a:r>
                        <a:rPr sz="1500" b="0">
                          <a:solidFill>
                            <a:srgbClr val="1F6F5C"/>
                          </a:solidFill>
                          <a:latin typeface="Calibri"/>
                        </a:rPr>
                        <a:t>Very strong</a:t>
                      </a:r>
                    </a:p>
                  </a:txBody>
                  <a:tcPr marL="109728" anchor="ctr">
                    <a:solidFill>
                      <a:srgbClr val="EAF3F0"/>
                    </a:solidFill>
                  </a:tcPr>
                </a:tc>
              </a:tr>
              <a:tr h="484632">
                <a:tc>
                  <a:txBody>
                    <a:bodyPr/>
                    <a:lstStyle/>
                    <a:p>
                      <a:r>
                        <a:rPr sz="1500" b="1">
                          <a:solidFill>
                            <a:srgbClr val="1E2B2B"/>
                          </a:solidFill>
                          <a:latin typeface="Calibri"/>
                        </a:rPr>
                        <a:t>ApplicantIncome</a:t>
                      </a:r>
                    </a:p>
                  </a:txBody>
                  <a:tcPr marL="109728" anchor="ctr">
                    <a:solidFill>
                      <a:srgbClr val="FFFFFF"/>
                    </a:solidFill>
                  </a:tcPr>
                </a:tc>
                <a:tc>
                  <a:txBody>
                    <a:bodyPr/>
                    <a:lstStyle/>
                    <a:p>
                      <a:r>
                        <a:rPr sz="1500" b="0">
                          <a:solidFill>
                            <a:srgbClr val="1E2B2B"/>
                          </a:solidFill>
                          <a:latin typeface="Calibri"/>
                        </a:rPr>
                        <a:t>₹ / month</a:t>
                      </a:r>
                    </a:p>
                  </a:txBody>
                  <a:tcPr marL="109728" anchor="ctr">
                    <a:solidFill>
                      <a:srgbClr val="FFFFFF"/>
                    </a:solidFill>
                  </a:tcPr>
                </a:tc>
                <a:tc>
                  <a:txBody>
                    <a:bodyPr/>
                    <a:lstStyle/>
                    <a:p>
                      <a:r>
                        <a:rPr sz="1500" b="0">
                          <a:solidFill>
                            <a:srgbClr val="1E2B2B"/>
                          </a:solidFill>
                          <a:latin typeface="Calibri"/>
                        </a:rPr>
                        <a:t>Main applicant's income</a:t>
                      </a:r>
                    </a:p>
                  </a:txBody>
                  <a:tcPr marL="109728" anchor="ctr">
                    <a:solidFill>
                      <a:srgbClr val="FFFFFF"/>
                    </a:solidFill>
                  </a:tcPr>
                </a:tc>
                <a:tc>
                  <a:txBody>
                    <a:bodyPr/>
                    <a:lstStyle/>
                    <a:p>
                      <a:r>
                        <a:rPr sz="1500" b="0">
                          <a:solidFill>
                            <a:srgbClr val="1E2B2B"/>
                          </a:solidFill>
                          <a:latin typeface="Calibri"/>
                        </a:rPr>
                        <a:t>Medium</a:t>
                      </a:r>
                    </a:p>
                  </a:txBody>
                  <a:tcPr marL="109728" anchor="ctr">
                    <a:solidFill>
                      <a:srgbClr val="FFFFFF"/>
                    </a:solidFill>
                  </a:tcPr>
                </a:tc>
              </a:tr>
              <a:tr h="484632">
                <a:tc>
                  <a:txBody>
                    <a:bodyPr/>
                    <a:lstStyle/>
                    <a:p>
                      <a:r>
                        <a:rPr sz="1500" b="1">
                          <a:solidFill>
                            <a:srgbClr val="1E2B2B"/>
                          </a:solidFill>
                          <a:latin typeface="Calibri"/>
                        </a:rPr>
                        <a:t>CoapplicantIncome</a:t>
                      </a:r>
                    </a:p>
                  </a:txBody>
                  <a:tcPr marL="109728" anchor="ctr">
                    <a:solidFill>
                      <a:srgbClr val="EAF3F0"/>
                    </a:solidFill>
                  </a:tcPr>
                </a:tc>
                <a:tc>
                  <a:txBody>
                    <a:bodyPr/>
                    <a:lstStyle/>
                    <a:p>
                      <a:r>
                        <a:rPr sz="1500" b="0">
                          <a:solidFill>
                            <a:srgbClr val="1E2B2B"/>
                          </a:solidFill>
                          <a:latin typeface="Calibri"/>
                        </a:rPr>
                        <a:t>₹ / month</a:t>
                      </a:r>
                    </a:p>
                  </a:txBody>
                  <a:tcPr marL="109728" anchor="ctr">
                    <a:solidFill>
                      <a:srgbClr val="EAF3F0"/>
                    </a:solidFill>
                  </a:tcPr>
                </a:tc>
                <a:tc>
                  <a:txBody>
                    <a:bodyPr/>
                    <a:lstStyle/>
                    <a:p>
                      <a:r>
                        <a:rPr sz="1500" b="0">
                          <a:solidFill>
                            <a:srgbClr val="1E2B2B"/>
                          </a:solidFill>
                          <a:latin typeface="Calibri"/>
                        </a:rPr>
                        <a:t>Co-applicant's income (0 if none)</a:t>
                      </a:r>
                    </a:p>
                  </a:txBody>
                  <a:tcPr marL="109728" anchor="ctr">
                    <a:solidFill>
                      <a:srgbClr val="EAF3F0"/>
                    </a:solidFill>
                  </a:tcPr>
                </a:tc>
                <a:tc>
                  <a:txBody>
                    <a:bodyPr/>
                    <a:lstStyle/>
                    <a:p>
                      <a:r>
                        <a:rPr sz="1500" b="0">
                          <a:solidFill>
                            <a:srgbClr val="1E2B2B"/>
                          </a:solidFill>
                          <a:latin typeface="Calibri"/>
                        </a:rPr>
                        <a:t>Medium</a:t>
                      </a:r>
                    </a:p>
                  </a:txBody>
                  <a:tcPr marL="109728" anchor="ctr">
                    <a:solidFill>
                      <a:srgbClr val="EAF3F0"/>
                    </a:solidFill>
                  </a:tcPr>
                </a:tc>
              </a:tr>
              <a:tr h="484632">
                <a:tc>
                  <a:txBody>
                    <a:bodyPr/>
                    <a:lstStyle/>
                    <a:p>
                      <a:r>
                        <a:rPr sz="1500" b="1">
                          <a:solidFill>
                            <a:srgbClr val="1E2B2B"/>
                          </a:solidFill>
                          <a:latin typeface="Calibri"/>
                        </a:rPr>
                        <a:t>LoanAmount</a:t>
                      </a:r>
                    </a:p>
                  </a:txBody>
                  <a:tcPr marL="109728" anchor="ctr">
                    <a:solidFill>
                      <a:srgbClr val="FFFFFF"/>
                    </a:solidFill>
                  </a:tcPr>
                </a:tc>
                <a:tc>
                  <a:txBody>
                    <a:bodyPr/>
                    <a:lstStyle/>
                    <a:p>
                      <a:r>
                        <a:rPr sz="1500" b="0">
                          <a:solidFill>
                            <a:srgbClr val="1E2B2B"/>
                          </a:solidFill>
                          <a:latin typeface="Calibri"/>
                        </a:rPr>
                        <a:t>₹ thousands</a:t>
                      </a:r>
                    </a:p>
                  </a:txBody>
                  <a:tcPr marL="109728" anchor="ctr">
                    <a:solidFill>
                      <a:srgbClr val="FFFFFF"/>
                    </a:solidFill>
                  </a:tcPr>
                </a:tc>
                <a:tc>
                  <a:txBody>
                    <a:bodyPr/>
                    <a:lstStyle/>
                    <a:p>
                      <a:r>
                        <a:rPr sz="1500" b="0">
                          <a:solidFill>
                            <a:srgbClr val="1E2B2B"/>
                          </a:solidFill>
                          <a:latin typeface="Calibri"/>
                        </a:rPr>
                        <a:t>Amount requested</a:t>
                      </a:r>
                    </a:p>
                  </a:txBody>
                  <a:tcPr marL="109728" anchor="ctr">
                    <a:solidFill>
                      <a:srgbClr val="FFFFFF"/>
                    </a:solidFill>
                  </a:tcPr>
                </a:tc>
                <a:tc>
                  <a:txBody>
                    <a:bodyPr/>
                    <a:lstStyle/>
                    <a:p>
                      <a:r>
                        <a:rPr sz="1500" b="0">
                          <a:solidFill>
                            <a:srgbClr val="1E2B2B"/>
                          </a:solidFill>
                          <a:latin typeface="Calibri"/>
                        </a:rPr>
                        <a:t>Medium</a:t>
                      </a:r>
                    </a:p>
                  </a:txBody>
                  <a:tcPr marL="109728" anchor="ctr">
                    <a:solidFill>
                      <a:srgbClr val="FFFFFF"/>
                    </a:solidFill>
                  </a:tcPr>
                </a:tc>
              </a:tr>
              <a:tr h="484632">
                <a:tc>
                  <a:txBody>
                    <a:bodyPr/>
                    <a:lstStyle/>
                    <a:p>
                      <a:r>
                        <a:rPr sz="1500" b="1">
                          <a:solidFill>
                            <a:srgbClr val="1E2B2B"/>
                          </a:solidFill>
                          <a:latin typeface="Calibri"/>
                        </a:rPr>
                        <a:t>Loan_Amount_Term</a:t>
                      </a:r>
                    </a:p>
                  </a:txBody>
                  <a:tcPr marL="109728" anchor="ctr">
                    <a:solidFill>
                      <a:srgbClr val="EAF3F0"/>
                    </a:solidFill>
                  </a:tcPr>
                </a:tc>
                <a:tc>
                  <a:txBody>
                    <a:bodyPr/>
                    <a:lstStyle/>
                    <a:p>
                      <a:r>
                        <a:rPr sz="1500" b="0">
                          <a:solidFill>
                            <a:srgbClr val="1E2B2B"/>
                          </a:solidFill>
                          <a:latin typeface="Calibri"/>
                        </a:rPr>
                        <a:t>months</a:t>
                      </a:r>
                    </a:p>
                  </a:txBody>
                  <a:tcPr marL="109728" anchor="ctr">
                    <a:solidFill>
                      <a:srgbClr val="EAF3F0"/>
                    </a:solidFill>
                  </a:tcPr>
                </a:tc>
                <a:tc>
                  <a:txBody>
                    <a:bodyPr/>
                    <a:lstStyle/>
                    <a:p>
                      <a:r>
                        <a:rPr sz="1500" b="0">
                          <a:solidFill>
                            <a:srgbClr val="1E2B2B"/>
                          </a:solidFill>
                          <a:latin typeface="Calibri"/>
                        </a:rPr>
                        <a:t>Repayment period (mostly 360)</a:t>
                      </a:r>
                    </a:p>
                  </a:txBody>
                  <a:tcPr marL="109728" anchor="ctr">
                    <a:solidFill>
                      <a:srgbClr val="EAF3F0"/>
                    </a:solidFill>
                  </a:tcPr>
                </a:tc>
                <a:tc>
                  <a:txBody>
                    <a:bodyPr/>
                    <a:lstStyle/>
                    <a:p>
                      <a:r>
                        <a:rPr sz="1500" b="0">
                          <a:solidFill>
                            <a:srgbClr val="1E2B2B"/>
                          </a:solidFill>
                          <a:latin typeface="Calibri"/>
                        </a:rPr>
                        <a:t>Low alone</a:t>
                      </a:r>
                    </a:p>
                  </a:txBody>
                  <a:tcPr marL="109728" anchor="ctr">
                    <a:solidFill>
                      <a:srgbClr val="EAF3F0"/>
                    </a:solidFill>
                  </a:tcPr>
                </a:tc>
              </a:tr>
              <a:tr h="484632">
                <a:tc>
                  <a:txBody>
                    <a:bodyPr/>
                    <a:lstStyle/>
                    <a:p>
                      <a:r>
                        <a:rPr sz="1500" b="1">
                          <a:solidFill>
                            <a:srgbClr val="1E2B2B"/>
                          </a:solidFill>
                          <a:latin typeface="Calibri"/>
                        </a:rPr>
                        <a:t>Property_Area</a:t>
                      </a:r>
                    </a:p>
                  </a:txBody>
                  <a:tcPr marL="109728" anchor="ctr">
                    <a:solidFill>
                      <a:srgbClr val="FFFFFF"/>
                    </a:solidFill>
                  </a:tcPr>
                </a:tc>
                <a:tc>
                  <a:txBody>
                    <a:bodyPr/>
                    <a:lstStyle/>
                    <a:p>
                      <a:r>
                        <a:rPr sz="1500" b="0">
                          <a:solidFill>
                            <a:srgbClr val="1E2B2B"/>
                          </a:solidFill>
                          <a:latin typeface="Calibri"/>
                        </a:rPr>
                        <a:t>3 categories</a:t>
                      </a:r>
                    </a:p>
                  </a:txBody>
                  <a:tcPr marL="109728" anchor="ctr">
                    <a:solidFill>
                      <a:srgbClr val="FFFFFF"/>
                    </a:solidFill>
                  </a:tcPr>
                </a:tc>
                <a:tc>
                  <a:txBody>
                    <a:bodyPr/>
                    <a:lstStyle/>
                    <a:p>
                      <a:r>
                        <a:rPr sz="1500" b="0">
                          <a:solidFill>
                            <a:srgbClr val="1E2B2B"/>
                          </a:solidFill>
                          <a:latin typeface="Calibri"/>
                        </a:rPr>
                        <a:t>Urban / Semiurban / Rural</a:t>
                      </a:r>
                    </a:p>
                  </a:txBody>
                  <a:tcPr marL="109728" anchor="ctr">
                    <a:solidFill>
                      <a:srgbClr val="FFFFFF"/>
                    </a:solidFill>
                  </a:tcPr>
                </a:tc>
                <a:tc>
                  <a:txBody>
                    <a:bodyPr/>
                    <a:lstStyle/>
                    <a:p>
                      <a:r>
                        <a:rPr sz="1500" b="0">
                          <a:solidFill>
                            <a:srgbClr val="1E2B2B"/>
                          </a:solidFill>
                          <a:latin typeface="Calibri"/>
                        </a:rPr>
                        <a:t>Weak</a:t>
                      </a:r>
                    </a:p>
                  </a:txBody>
                  <a:tcPr marL="109728" anchor="ctr">
                    <a:solidFill>
                      <a:srgbClr val="FFFFFF"/>
                    </a:solidFill>
                  </a:tcPr>
                </a:tc>
              </a:tr>
              <a:tr h="484632">
                <a:tc>
                  <a:txBody>
                    <a:bodyPr/>
                    <a:lstStyle/>
                    <a:p>
                      <a:r>
                        <a:rPr sz="1500" b="1">
                          <a:solidFill>
                            <a:srgbClr val="1E2B2B"/>
                          </a:solidFill>
                          <a:latin typeface="Calibri"/>
                        </a:rPr>
                        <a:t>Married · Dependents</a:t>
                      </a:r>
                    </a:p>
                  </a:txBody>
                  <a:tcPr marL="109728" anchor="ctr">
                    <a:solidFill>
                      <a:srgbClr val="EAF3F0"/>
                    </a:solidFill>
                  </a:tcPr>
                </a:tc>
                <a:tc>
                  <a:txBody>
                    <a:bodyPr/>
                    <a:lstStyle/>
                    <a:p>
                      <a:r>
                        <a:rPr sz="1500" b="0">
                          <a:solidFill>
                            <a:srgbClr val="1E2B2B"/>
                          </a:solidFill>
                          <a:latin typeface="Calibri"/>
                        </a:rPr>
                        <a:t>categories</a:t>
                      </a:r>
                    </a:p>
                  </a:txBody>
                  <a:tcPr marL="109728" anchor="ctr">
                    <a:solidFill>
                      <a:srgbClr val="EAF3F0"/>
                    </a:solidFill>
                  </a:tcPr>
                </a:tc>
                <a:tc>
                  <a:txBody>
                    <a:bodyPr/>
                    <a:lstStyle/>
                    <a:p>
                      <a:r>
                        <a:rPr sz="1500" b="0">
                          <a:solidFill>
                            <a:srgbClr val="1E2B2B"/>
                          </a:solidFill>
                          <a:latin typeface="Calibri"/>
                        </a:rPr>
                        <a:t>Family situation</a:t>
                      </a:r>
                    </a:p>
                  </a:txBody>
                  <a:tcPr marL="109728" anchor="ctr">
                    <a:solidFill>
                      <a:srgbClr val="EAF3F0"/>
                    </a:solidFill>
                  </a:tcPr>
                </a:tc>
                <a:tc>
                  <a:txBody>
                    <a:bodyPr/>
                    <a:lstStyle/>
                    <a:p>
                      <a:r>
                        <a:rPr sz="1500" b="0">
                          <a:solidFill>
                            <a:srgbClr val="1E2B2B"/>
                          </a:solidFill>
                          <a:latin typeface="Calibri"/>
                        </a:rPr>
                        <a:t>≈ none</a:t>
                      </a:r>
                    </a:p>
                  </a:txBody>
                  <a:tcPr marL="109728" anchor="ctr">
                    <a:solidFill>
                      <a:srgbClr val="EAF3F0"/>
                    </a:solidFill>
                  </a:tcPr>
                </a:tc>
              </a:tr>
              <a:tr h="484632">
                <a:tc>
                  <a:txBody>
                    <a:bodyPr/>
                    <a:lstStyle/>
                    <a:p>
                      <a:r>
                        <a:rPr sz="1500" b="1">
                          <a:solidFill>
                            <a:srgbClr val="1E2B2B"/>
                          </a:solidFill>
                          <a:latin typeface="Calibri"/>
                        </a:rPr>
                        <a:t>Education · Self_Employed</a:t>
                      </a:r>
                    </a:p>
                  </a:txBody>
                  <a:tcPr marL="109728" anchor="ctr">
                    <a:solidFill>
                      <a:srgbClr val="FFFFFF"/>
                    </a:solidFill>
                  </a:tcPr>
                </a:tc>
                <a:tc>
                  <a:txBody>
                    <a:bodyPr/>
                    <a:lstStyle/>
                    <a:p>
                      <a:r>
                        <a:rPr sz="1500" b="0">
                          <a:solidFill>
                            <a:srgbClr val="1E2B2B"/>
                          </a:solidFill>
                          <a:latin typeface="Calibri"/>
                        </a:rPr>
                        <a:t>yes / no</a:t>
                      </a:r>
                    </a:p>
                  </a:txBody>
                  <a:tcPr marL="109728" anchor="ctr">
                    <a:solidFill>
                      <a:srgbClr val="FFFFFF"/>
                    </a:solidFill>
                  </a:tcPr>
                </a:tc>
                <a:tc>
                  <a:txBody>
                    <a:bodyPr/>
                    <a:lstStyle/>
                    <a:p>
                      <a:r>
                        <a:rPr sz="1500" b="0">
                          <a:solidFill>
                            <a:srgbClr val="1E2B2B"/>
                          </a:solidFill>
                          <a:latin typeface="Calibri"/>
                        </a:rPr>
                        <a:t>Graduate? Self-employed?</a:t>
                      </a:r>
                    </a:p>
                  </a:txBody>
                  <a:tcPr marL="109728" anchor="ctr">
                    <a:solidFill>
                      <a:srgbClr val="FFFFFF"/>
                    </a:solidFill>
                  </a:tcPr>
                </a:tc>
                <a:tc>
                  <a:txBody>
                    <a:bodyPr/>
                    <a:lstStyle/>
                    <a:p>
                      <a:r>
                        <a:rPr sz="1500" b="0">
                          <a:solidFill>
                            <a:srgbClr val="1E2B2B"/>
                          </a:solidFill>
                          <a:latin typeface="Calibri"/>
                        </a:rPr>
                        <a:t>≈ none</a:t>
                      </a:r>
                    </a:p>
                  </a:txBody>
                  <a:tcPr marL="109728" anchor="ctr">
                    <a:solidFill>
                      <a:srgbClr val="FFFFFF"/>
                    </a:solidFill>
                  </a:tcPr>
                </a:tc>
              </a:tr>
              <a:tr h="484632">
                <a:tc>
                  <a:txBody>
                    <a:bodyPr/>
                    <a:lstStyle/>
                    <a:p>
                      <a:r>
                        <a:rPr sz="1500" b="1">
                          <a:solidFill>
                            <a:srgbClr val="1E2B2B"/>
                          </a:solidFill>
                          <a:latin typeface="Calibri"/>
                        </a:rPr>
                        <a:t>Gender</a:t>
                      </a:r>
                    </a:p>
                  </a:txBody>
                  <a:tcPr marL="109728" anchor="ctr">
                    <a:solidFill>
                      <a:srgbClr val="EAF3F0"/>
                    </a:solidFill>
                  </a:tcPr>
                </a:tc>
                <a:tc>
                  <a:txBody>
                    <a:bodyPr/>
                    <a:lstStyle/>
                    <a:p>
                      <a:r>
                        <a:rPr sz="1500" b="0">
                          <a:solidFill>
                            <a:srgbClr val="1E2B2B"/>
                          </a:solidFill>
                          <a:latin typeface="Calibri"/>
                        </a:rPr>
                        <a:t>M / F</a:t>
                      </a:r>
                    </a:p>
                  </a:txBody>
                  <a:tcPr marL="109728" anchor="ctr">
                    <a:solidFill>
                      <a:srgbClr val="EAF3F0"/>
                    </a:solidFill>
                  </a:tcPr>
                </a:tc>
                <a:tc>
                  <a:txBody>
                    <a:bodyPr/>
                    <a:lstStyle/>
                    <a:p>
                      <a:r>
                        <a:rPr sz="1500" b="0">
                          <a:solidFill>
                            <a:srgbClr val="1E2B2B"/>
                          </a:solidFill>
                          <a:latin typeface="Calibri"/>
                        </a:rPr>
                        <a:t>Sensitive attribute</a:t>
                      </a:r>
                    </a:p>
                  </a:txBody>
                  <a:tcPr marL="109728" anchor="ctr">
                    <a:solidFill>
                      <a:srgbClr val="EAF3F0"/>
                    </a:solidFill>
                  </a:tcPr>
                </a:tc>
                <a:tc>
                  <a:txBody>
                    <a:bodyPr/>
                    <a:lstStyle/>
                    <a:p>
                      <a:r>
                        <a:rPr sz="1500" b="0">
                          <a:solidFill>
                            <a:srgbClr val="1E2B2B"/>
                          </a:solidFill>
                          <a:latin typeface="Calibri"/>
                        </a:rPr>
                        <a:t>≈ none</a:t>
                      </a:r>
                    </a:p>
                  </a:txBody>
                  <a:tcPr marL="109728" anchor="ctr">
                    <a:solidFill>
                      <a:srgbClr val="EAF3F0"/>
                    </a:solidFill>
                  </a:tcPr>
                </a:tc>
              </a:tr>
            </a:tbl>
          </a:graphicData>
        </a:graphic>
      </p:graphicFrame>
      <p:sp>
        <p:nvSpPr>
          <p:cNvPr id="4" name="TextBox 3"/>
          <p:cNvSpPr txBox="1"/>
          <p:nvPr/>
        </p:nvSpPr>
        <p:spPr>
          <a:xfrm>
            <a:off x="10881360" y="6400800"/>
            <a:ext cx="822960" cy="274320"/>
          </a:xfrm>
          <a:prstGeom prst="rect">
            <a:avLst/>
          </a:prstGeom>
          <a:noFill/>
        </p:spPr>
        <p:txBody>
          <a:bodyPr wrap="square" anchor="t" lIns="45720" rIns="45720">
            <a:spAutoFit/>
          </a:bodyPr>
          <a:lstStyle/>
          <a:p>
            <a:pPr algn="r">
              <a:spcAft>
                <a:spcPts val="600"/>
              </a:spcAft>
            </a:pPr>
            <a:r>
              <a:rPr sz="1000" b="0" i="0">
                <a:solidFill>
                  <a:srgbClr val="5B6B6B"/>
                </a:solidFill>
                <a:latin typeface="Calibri"/>
              </a:rPr>
              <a:t>5 / 14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64240" cy="777240"/>
          </a:xfrm>
          <a:prstGeom prst="rect">
            <a:avLst/>
          </a:prstGeom>
          <a:noFill/>
        </p:spPr>
        <p:txBody>
          <a:bodyPr wrap="square" anchor="ctr" lIns="45720" rIns="45720">
            <a:spAutoFit/>
          </a:bodyPr>
          <a:lstStyle/>
          <a:p>
            <a:pPr algn="l">
              <a:spcAft>
                <a:spcPts val="600"/>
              </a:spcAft>
            </a:pPr>
            <a:r>
              <a:rPr sz="3400" b="1" i="0">
                <a:solidFill>
                  <a:srgbClr val="0F3D3E"/>
                </a:solidFill>
                <a:latin typeface="Cambria"/>
              </a:rPr>
              <a:t>Features we created: affordability</a:t>
            </a:r>
          </a:p>
        </p:txBody>
      </p:sp>
      <p:sp>
        <p:nvSpPr>
          <p:cNvPr id="3" name="TextBox 2"/>
          <p:cNvSpPr txBox="1"/>
          <p:nvPr/>
        </p:nvSpPr>
        <p:spPr>
          <a:xfrm>
            <a:off x="548640" y="1188720"/>
            <a:ext cx="10972800" cy="640080"/>
          </a:xfrm>
          <a:prstGeom prst="rect">
            <a:avLst/>
          </a:prstGeom>
          <a:noFill/>
        </p:spPr>
        <p:txBody>
          <a:bodyPr wrap="square" anchor="t" lIns="45720" rIns="45720">
            <a:spAutoFit/>
          </a:bodyPr>
          <a:lstStyle/>
          <a:p>
            <a:pPr algn="l">
              <a:spcAft>
                <a:spcPts val="600"/>
              </a:spcAft>
            </a:pPr>
            <a:r>
              <a:rPr sz="1700" b="0" i="0">
                <a:solidFill>
                  <a:srgbClr val="5B6B6B"/>
                </a:solidFill>
                <a:latin typeface="Calibri"/>
              </a:rPr>
              <a:t>A loan officer asks: "Can this household afford the monthly instalment?" So we built 5 new columns that answer it.</a:t>
            </a:r>
          </a:p>
        </p:txBody>
      </p:sp>
      <p:sp>
        <p:nvSpPr>
          <p:cNvPr id="4" name="Rounded Rectangle 3"/>
          <p:cNvSpPr/>
          <p:nvPr/>
        </p:nvSpPr>
        <p:spPr>
          <a:xfrm>
            <a:off x="548640" y="2011680"/>
            <a:ext cx="3520440" cy="1645920"/>
          </a:xfrm>
          <a:prstGeom prst="roundRect">
            <a:avLst>
              <a:gd name="adj" fmla="val 8000"/>
            </a:avLst>
          </a:prstGeom>
          <a:solidFill>
            <a:srgbClr val="EAF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77240" y="2240280"/>
            <a:ext cx="457200" cy="457200"/>
          </a:xfrm>
          <a:prstGeom prst="ellipse">
            <a:avLst/>
          </a:prstGeom>
          <a:solidFill>
            <a:srgbClr val="E3A72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0F3D3E"/>
                </a:solidFill>
                <a:latin typeface="Cambria"/>
              </a:rPr>
              <a:t>1</a:t>
            </a:r>
          </a:p>
        </p:txBody>
      </p:sp>
      <p:sp>
        <p:nvSpPr>
          <p:cNvPr id="6" name="TextBox 5"/>
          <p:cNvSpPr txBox="1"/>
          <p:nvPr/>
        </p:nvSpPr>
        <p:spPr>
          <a:xfrm>
            <a:off x="1371600" y="2212848"/>
            <a:ext cx="2606040" cy="457200"/>
          </a:xfrm>
          <a:prstGeom prst="rect">
            <a:avLst/>
          </a:prstGeom>
          <a:noFill/>
        </p:spPr>
        <p:txBody>
          <a:bodyPr wrap="square" anchor="t" lIns="45720" rIns="45720">
            <a:spAutoFit/>
          </a:bodyPr>
          <a:lstStyle/>
          <a:p>
            <a:pPr algn="l">
              <a:spcAft>
                <a:spcPts val="600"/>
              </a:spcAft>
            </a:pPr>
            <a:r>
              <a:rPr sz="1800" b="1" i="0">
                <a:solidFill>
                  <a:srgbClr val="0F3D3E"/>
                </a:solidFill>
                <a:latin typeface="Calibri"/>
              </a:rPr>
              <a:t>TotalIncome</a:t>
            </a:r>
          </a:p>
        </p:txBody>
      </p:sp>
      <p:sp>
        <p:nvSpPr>
          <p:cNvPr id="7" name="TextBox 6"/>
          <p:cNvSpPr txBox="1"/>
          <p:nvPr/>
        </p:nvSpPr>
        <p:spPr>
          <a:xfrm>
            <a:off x="777240" y="2788920"/>
            <a:ext cx="3154680" cy="411480"/>
          </a:xfrm>
          <a:prstGeom prst="rect">
            <a:avLst/>
          </a:prstGeom>
          <a:noFill/>
        </p:spPr>
        <p:txBody>
          <a:bodyPr wrap="square" anchor="t" lIns="45720" rIns="45720">
            <a:spAutoFit/>
          </a:bodyPr>
          <a:lstStyle/>
          <a:p>
            <a:pPr algn="l">
              <a:spcAft>
                <a:spcPts val="600"/>
              </a:spcAft>
            </a:pPr>
            <a:r>
              <a:rPr sz="1400" b="0" i="0">
                <a:solidFill>
                  <a:srgbClr val="1F6F5C"/>
                </a:solidFill>
                <a:latin typeface="Courier New"/>
              </a:rPr>
              <a:t>Applicant + Co-applicant income</a:t>
            </a:r>
          </a:p>
        </p:txBody>
      </p:sp>
      <p:sp>
        <p:nvSpPr>
          <p:cNvPr id="8" name="TextBox 7"/>
          <p:cNvSpPr txBox="1"/>
          <p:nvPr/>
        </p:nvSpPr>
        <p:spPr>
          <a:xfrm>
            <a:off x="777240" y="3154680"/>
            <a:ext cx="3154680" cy="457200"/>
          </a:xfrm>
          <a:prstGeom prst="rect">
            <a:avLst/>
          </a:prstGeom>
          <a:noFill/>
        </p:spPr>
        <p:txBody>
          <a:bodyPr wrap="square" anchor="t" lIns="45720" rIns="45720">
            <a:spAutoFit/>
          </a:bodyPr>
          <a:lstStyle/>
          <a:p>
            <a:pPr algn="l">
              <a:spcAft>
                <a:spcPts val="600"/>
              </a:spcAft>
            </a:pPr>
            <a:r>
              <a:rPr sz="1400" b="0" i="0">
                <a:solidFill>
                  <a:srgbClr val="5B6B6B"/>
                </a:solidFill>
                <a:latin typeface="Calibri"/>
              </a:rPr>
              <a:t>The bank lends to the household</a:t>
            </a:r>
          </a:p>
        </p:txBody>
      </p:sp>
      <p:sp>
        <p:nvSpPr>
          <p:cNvPr id="9" name="Rounded Rectangle 8"/>
          <p:cNvSpPr/>
          <p:nvPr/>
        </p:nvSpPr>
        <p:spPr>
          <a:xfrm>
            <a:off x="4297679" y="2011680"/>
            <a:ext cx="3520440" cy="1645920"/>
          </a:xfrm>
          <a:prstGeom prst="roundRect">
            <a:avLst>
              <a:gd name="adj" fmla="val 8000"/>
            </a:avLst>
          </a:prstGeom>
          <a:solidFill>
            <a:srgbClr val="EAF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4526279" y="2240280"/>
            <a:ext cx="457200" cy="457200"/>
          </a:xfrm>
          <a:prstGeom prst="ellipse">
            <a:avLst/>
          </a:prstGeom>
          <a:solidFill>
            <a:srgbClr val="E3A72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0F3D3E"/>
                </a:solidFill>
                <a:latin typeface="Cambria"/>
              </a:rPr>
              <a:t>2</a:t>
            </a:r>
          </a:p>
        </p:txBody>
      </p:sp>
      <p:sp>
        <p:nvSpPr>
          <p:cNvPr id="11" name="TextBox 10"/>
          <p:cNvSpPr txBox="1"/>
          <p:nvPr/>
        </p:nvSpPr>
        <p:spPr>
          <a:xfrm>
            <a:off x="5120640" y="2212848"/>
            <a:ext cx="2606040" cy="457200"/>
          </a:xfrm>
          <a:prstGeom prst="rect">
            <a:avLst/>
          </a:prstGeom>
          <a:noFill/>
        </p:spPr>
        <p:txBody>
          <a:bodyPr wrap="square" anchor="t" lIns="45720" rIns="45720">
            <a:spAutoFit/>
          </a:bodyPr>
          <a:lstStyle/>
          <a:p>
            <a:pPr algn="l">
              <a:spcAft>
                <a:spcPts val="600"/>
              </a:spcAft>
            </a:pPr>
            <a:r>
              <a:rPr sz="1800" b="1" i="0">
                <a:solidFill>
                  <a:srgbClr val="0F3D3E"/>
                </a:solidFill>
                <a:latin typeface="Calibri"/>
              </a:rPr>
              <a:t>EMI</a:t>
            </a:r>
          </a:p>
        </p:txBody>
      </p:sp>
      <p:sp>
        <p:nvSpPr>
          <p:cNvPr id="12" name="TextBox 11"/>
          <p:cNvSpPr txBox="1"/>
          <p:nvPr/>
        </p:nvSpPr>
        <p:spPr>
          <a:xfrm>
            <a:off x="4526279" y="2788920"/>
            <a:ext cx="3154680" cy="411480"/>
          </a:xfrm>
          <a:prstGeom prst="rect">
            <a:avLst/>
          </a:prstGeom>
          <a:noFill/>
        </p:spPr>
        <p:txBody>
          <a:bodyPr wrap="square" anchor="t" lIns="45720" rIns="45720">
            <a:spAutoFit/>
          </a:bodyPr>
          <a:lstStyle/>
          <a:p>
            <a:pPr algn="l">
              <a:spcAft>
                <a:spcPts val="600"/>
              </a:spcAft>
            </a:pPr>
            <a:r>
              <a:rPr sz="1400" b="0" i="0">
                <a:solidFill>
                  <a:srgbClr val="1F6F5C"/>
                </a:solidFill>
                <a:latin typeface="Courier New"/>
              </a:rPr>
              <a:t>LoanAmount × 1000 ÷ Term</a:t>
            </a:r>
          </a:p>
        </p:txBody>
      </p:sp>
      <p:sp>
        <p:nvSpPr>
          <p:cNvPr id="13" name="TextBox 12"/>
          <p:cNvSpPr txBox="1"/>
          <p:nvPr/>
        </p:nvSpPr>
        <p:spPr>
          <a:xfrm>
            <a:off x="4526279" y="3154680"/>
            <a:ext cx="3154680" cy="457200"/>
          </a:xfrm>
          <a:prstGeom prst="rect">
            <a:avLst/>
          </a:prstGeom>
          <a:noFill/>
        </p:spPr>
        <p:txBody>
          <a:bodyPr wrap="square" anchor="t" lIns="45720" rIns="45720">
            <a:spAutoFit/>
          </a:bodyPr>
          <a:lstStyle/>
          <a:p>
            <a:pPr algn="l">
              <a:spcAft>
                <a:spcPts val="600"/>
              </a:spcAft>
            </a:pPr>
            <a:r>
              <a:rPr sz="1400" b="0" i="0">
                <a:solidFill>
                  <a:srgbClr val="5B6B6B"/>
                </a:solidFill>
                <a:latin typeface="Calibri"/>
              </a:rPr>
              <a:t>Approx. monthly instalment in ₹</a:t>
            </a:r>
          </a:p>
        </p:txBody>
      </p:sp>
      <p:sp>
        <p:nvSpPr>
          <p:cNvPr id="14" name="Rounded Rectangle 13"/>
          <p:cNvSpPr/>
          <p:nvPr/>
        </p:nvSpPr>
        <p:spPr>
          <a:xfrm>
            <a:off x="8046719" y="2011680"/>
            <a:ext cx="3520440" cy="1645920"/>
          </a:xfrm>
          <a:prstGeom prst="roundRect">
            <a:avLst>
              <a:gd name="adj" fmla="val 8000"/>
            </a:avLst>
          </a:prstGeom>
          <a:solidFill>
            <a:srgbClr val="EAF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275319" y="2240280"/>
            <a:ext cx="457200" cy="457200"/>
          </a:xfrm>
          <a:prstGeom prst="ellipse">
            <a:avLst/>
          </a:prstGeom>
          <a:solidFill>
            <a:srgbClr val="E3A72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0F3D3E"/>
                </a:solidFill>
                <a:latin typeface="Cambria"/>
              </a:rPr>
              <a:t>3</a:t>
            </a:r>
          </a:p>
        </p:txBody>
      </p:sp>
      <p:sp>
        <p:nvSpPr>
          <p:cNvPr id="16" name="TextBox 15"/>
          <p:cNvSpPr txBox="1"/>
          <p:nvPr/>
        </p:nvSpPr>
        <p:spPr>
          <a:xfrm>
            <a:off x="8869680" y="2212848"/>
            <a:ext cx="2606040" cy="457200"/>
          </a:xfrm>
          <a:prstGeom prst="rect">
            <a:avLst/>
          </a:prstGeom>
          <a:noFill/>
        </p:spPr>
        <p:txBody>
          <a:bodyPr wrap="square" anchor="t" lIns="45720" rIns="45720">
            <a:spAutoFit/>
          </a:bodyPr>
          <a:lstStyle/>
          <a:p>
            <a:pPr algn="l">
              <a:spcAft>
                <a:spcPts val="600"/>
              </a:spcAft>
            </a:pPr>
            <a:r>
              <a:rPr sz="1800" b="1" i="0">
                <a:solidFill>
                  <a:srgbClr val="0F3D3E"/>
                </a:solidFill>
                <a:latin typeface="Calibri"/>
              </a:rPr>
              <a:t>BalanceIncome</a:t>
            </a:r>
          </a:p>
        </p:txBody>
      </p:sp>
      <p:sp>
        <p:nvSpPr>
          <p:cNvPr id="17" name="TextBox 16"/>
          <p:cNvSpPr txBox="1"/>
          <p:nvPr/>
        </p:nvSpPr>
        <p:spPr>
          <a:xfrm>
            <a:off x="8275319" y="2788920"/>
            <a:ext cx="3154680" cy="411480"/>
          </a:xfrm>
          <a:prstGeom prst="rect">
            <a:avLst/>
          </a:prstGeom>
          <a:noFill/>
        </p:spPr>
        <p:txBody>
          <a:bodyPr wrap="square" anchor="t" lIns="45720" rIns="45720">
            <a:spAutoFit/>
          </a:bodyPr>
          <a:lstStyle/>
          <a:p>
            <a:pPr algn="l">
              <a:spcAft>
                <a:spcPts val="600"/>
              </a:spcAft>
            </a:pPr>
            <a:r>
              <a:rPr sz="1400" b="0" i="0">
                <a:solidFill>
                  <a:srgbClr val="1F6F5C"/>
                </a:solidFill>
                <a:latin typeface="Courier New"/>
              </a:rPr>
              <a:t>TotalIncome − EMI</a:t>
            </a:r>
          </a:p>
        </p:txBody>
      </p:sp>
      <p:sp>
        <p:nvSpPr>
          <p:cNvPr id="18" name="TextBox 17"/>
          <p:cNvSpPr txBox="1"/>
          <p:nvPr/>
        </p:nvSpPr>
        <p:spPr>
          <a:xfrm>
            <a:off x="8275319" y="3154680"/>
            <a:ext cx="3154680" cy="457200"/>
          </a:xfrm>
          <a:prstGeom prst="rect">
            <a:avLst/>
          </a:prstGeom>
          <a:noFill/>
        </p:spPr>
        <p:txBody>
          <a:bodyPr wrap="square" anchor="t" lIns="45720" rIns="45720">
            <a:spAutoFit/>
          </a:bodyPr>
          <a:lstStyle/>
          <a:p>
            <a:pPr algn="l">
              <a:spcAft>
                <a:spcPts val="600"/>
              </a:spcAft>
            </a:pPr>
            <a:r>
              <a:rPr sz="1400" b="0" i="0">
                <a:solidFill>
                  <a:srgbClr val="5B6B6B"/>
                </a:solidFill>
                <a:latin typeface="Calibri"/>
              </a:rPr>
              <a:t>Money left after paying the EMI</a:t>
            </a:r>
          </a:p>
        </p:txBody>
      </p:sp>
      <p:sp>
        <p:nvSpPr>
          <p:cNvPr id="19" name="Rounded Rectangle 18"/>
          <p:cNvSpPr/>
          <p:nvPr/>
        </p:nvSpPr>
        <p:spPr>
          <a:xfrm>
            <a:off x="548640" y="3886200"/>
            <a:ext cx="3520440" cy="1645920"/>
          </a:xfrm>
          <a:prstGeom prst="roundRect">
            <a:avLst>
              <a:gd name="adj" fmla="val 8000"/>
            </a:avLst>
          </a:prstGeom>
          <a:solidFill>
            <a:srgbClr val="EAF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77240" y="4114800"/>
            <a:ext cx="457200" cy="457200"/>
          </a:xfrm>
          <a:prstGeom prst="ellipse">
            <a:avLst/>
          </a:prstGeom>
          <a:solidFill>
            <a:srgbClr val="E3A72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0F3D3E"/>
                </a:solidFill>
                <a:latin typeface="Cambria"/>
              </a:rPr>
              <a:t>4</a:t>
            </a:r>
          </a:p>
        </p:txBody>
      </p:sp>
      <p:sp>
        <p:nvSpPr>
          <p:cNvPr id="21" name="TextBox 20"/>
          <p:cNvSpPr txBox="1"/>
          <p:nvPr/>
        </p:nvSpPr>
        <p:spPr>
          <a:xfrm>
            <a:off x="1371600" y="4087368"/>
            <a:ext cx="2606040" cy="457200"/>
          </a:xfrm>
          <a:prstGeom prst="rect">
            <a:avLst/>
          </a:prstGeom>
          <a:noFill/>
        </p:spPr>
        <p:txBody>
          <a:bodyPr wrap="square" anchor="t" lIns="45720" rIns="45720">
            <a:spAutoFit/>
          </a:bodyPr>
          <a:lstStyle/>
          <a:p>
            <a:pPr algn="l">
              <a:spcAft>
                <a:spcPts val="600"/>
              </a:spcAft>
            </a:pPr>
            <a:r>
              <a:rPr sz="1800" b="1" i="0">
                <a:solidFill>
                  <a:srgbClr val="0F3D3E"/>
                </a:solidFill>
                <a:latin typeface="Calibri"/>
              </a:rPr>
              <a:t>LoanToIncome</a:t>
            </a:r>
          </a:p>
        </p:txBody>
      </p:sp>
      <p:sp>
        <p:nvSpPr>
          <p:cNvPr id="22" name="TextBox 21"/>
          <p:cNvSpPr txBox="1"/>
          <p:nvPr/>
        </p:nvSpPr>
        <p:spPr>
          <a:xfrm>
            <a:off x="777240" y="4663440"/>
            <a:ext cx="3154680" cy="411480"/>
          </a:xfrm>
          <a:prstGeom prst="rect">
            <a:avLst/>
          </a:prstGeom>
          <a:noFill/>
        </p:spPr>
        <p:txBody>
          <a:bodyPr wrap="square" anchor="t" lIns="45720" rIns="45720">
            <a:spAutoFit/>
          </a:bodyPr>
          <a:lstStyle/>
          <a:p>
            <a:pPr algn="l">
              <a:spcAft>
                <a:spcPts val="600"/>
              </a:spcAft>
            </a:pPr>
            <a:r>
              <a:rPr sz="1400" b="0" i="0">
                <a:solidFill>
                  <a:srgbClr val="1F6F5C"/>
                </a:solidFill>
                <a:latin typeface="Courier New"/>
              </a:rPr>
              <a:t>LoanAmount × 1000 ÷ TotalIncome</a:t>
            </a:r>
          </a:p>
        </p:txBody>
      </p:sp>
      <p:sp>
        <p:nvSpPr>
          <p:cNvPr id="23" name="TextBox 22"/>
          <p:cNvSpPr txBox="1"/>
          <p:nvPr/>
        </p:nvSpPr>
        <p:spPr>
          <a:xfrm>
            <a:off x="777240" y="5029200"/>
            <a:ext cx="3154680" cy="457200"/>
          </a:xfrm>
          <a:prstGeom prst="rect">
            <a:avLst/>
          </a:prstGeom>
          <a:noFill/>
        </p:spPr>
        <p:txBody>
          <a:bodyPr wrap="square" anchor="t" lIns="45720" rIns="45720">
            <a:spAutoFit/>
          </a:bodyPr>
          <a:lstStyle/>
          <a:p>
            <a:pPr algn="l">
              <a:spcAft>
                <a:spcPts val="600"/>
              </a:spcAft>
            </a:pPr>
            <a:r>
              <a:rPr sz="1400" b="0" i="0">
                <a:solidFill>
                  <a:srgbClr val="5B6B6B"/>
                </a:solidFill>
                <a:latin typeface="Calibri"/>
              </a:rPr>
              <a:t>Loan size in months of income</a:t>
            </a:r>
          </a:p>
        </p:txBody>
      </p:sp>
      <p:sp>
        <p:nvSpPr>
          <p:cNvPr id="24" name="Rounded Rectangle 23"/>
          <p:cNvSpPr/>
          <p:nvPr/>
        </p:nvSpPr>
        <p:spPr>
          <a:xfrm>
            <a:off x="4297679" y="3886200"/>
            <a:ext cx="3520440" cy="1645920"/>
          </a:xfrm>
          <a:prstGeom prst="roundRect">
            <a:avLst>
              <a:gd name="adj" fmla="val 8000"/>
            </a:avLst>
          </a:prstGeom>
          <a:solidFill>
            <a:srgbClr val="EAF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4526279" y="4114800"/>
            <a:ext cx="457200" cy="457200"/>
          </a:xfrm>
          <a:prstGeom prst="ellipse">
            <a:avLst/>
          </a:prstGeom>
          <a:solidFill>
            <a:srgbClr val="E3A72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0F3D3E"/>
                </a:solidFill>
                <a:latin typeface="Cambria"/>
              </a:rPr>
              <a:t>5</a:t>
            </a:r>
          </a:p>
        </p:txBody>
      </p:sp>
      <p:sp>
        <p:nvSpPr>
          <p:cNvPr id="26" name="TextBox 25"/>
          <p:cNvSpPr txBox="1"/>
          <p:nvPr/>
        </p:nvSpPr>
        <p:spPr>
          <a:xfrm>
            <a:off x="5120640" y="4087368"/>
            <a:ext cx="2606040" cy="457200"/>
          </a:xfrm>
          <a:prstGeom prst="rect">
            <a:avLst/>
          </a:prstGeom>
          <a:noFill/>
        </p:spPr>
        <p:txBody>
          <a:bodyPr wrap="square" anchor="t" lIns="45720" rIns="45720">
            <a:spAutoFit/>
          </a:bodyPr>
          <a:lstStyle/>
          <a:p>
            <a:pPr algn="l">
              <a:spcAft>
                <a:spcPts val="600"/>
              </a:spcAft>
            </a:pPr>
            <a:r>
              <a:rPr sz="1800" b="1" i="0">
                <a:solidFill>
                  <a:srgbClr val="0F3D3E"/>
                </a:solidFill>
                <a:latin typeface="Calibri"/>
              </a:rPr>
              <a:t>LoanAmountLog</a:t>
            </a:r>
          </a:p>
        </p:txBody>
      </p:sp>
      <p:sp>
        <p:nvSpPr>
          <p:cNvPr id="27" name="TextBox 26"/>
          <p:cNvSpPr txBox="1"/>
          <p:nvPr/>
        </p:nvSpPr>
        <p:spPr>
          <a:xfrm>
            <a:off x="4526279" y="4663440"/>
            <a:ext cx="3154680" cy="411480"/>
          </a:xfrm>
          <a:prstGeom prst="rect">
            <a:avLst/>
          </a:prstGeom>
          <a:noFill/>
        </p:spPr>
        <p:txBody>
          <a:bodyPr wrap="square" anchor="t" lIns="45720" rIns="45720">
            <a:spAutoFit/>
          </a:bodyPr>
          <a:lstStyle/>
          <a:p>
            <a:pPr algn="l">
              <a:spcAft>
                <a:spcPts val="600"/>
              </a:spcAft>
            </a:pPr>
            <a:r>
              <a:rPr sz="1400" b="0" i="0">
                <a:solidFill>
                  <a:srgbClr val="1F6F5C"/>
                </a:solidFill>
                <a:latin typeface="Courier New"/>
              </a:rPr>
              <a:t>log(1 + LoanAmount)</a:t>
            </a:r>
          </a:p>
        </p:txBody>
      </p:sp>
      <p:sp>
        <p:nvSpPr>
          <p:cNvPr id="28" name="TextBox 27"/>
          <p:cNvSpPr txBox="1"/>
          <p:nvPr/>
        </p:nvSpPr>
        <p:spPr>
          <a:xfrm>
            <a:off x="4526279" y="5029200"/>
            <a:ext cx="3154680" cy="457200"/>
          </a:xfrm>
          <a:prstGeom prst="rect">
            <a:avLst/>
          </a:prstGeom>
          <a:noFill/>
        </p:spPr>
        <p:txBody>
          <a:bodyPr wrap="square" anchor="t" lIns="45720" rIns="45720">
            <a:spAutoFit/>
          </a:bodyPr>
          <a:lstStyle/>
          <a:p>
            <a:pPr algn="l">
              <a:spcAft>
                <a:spcPts val="600"/>
              </a:spcAft>
            </a:pPr>
            <a:r>
              <a:rPr sz="1400" b="0" i="0">
                <a:solidFill>
                  <a:srgbClr val="5B6B6B"/>
                </a:solidFill>
                <a:latin typeface="Calibri"/>
              </a:rPr>
              <a:t>Tames very large loans</a:t>
            </a:r>
          </a:p>
        </p:txBody>
      </p:sp>
      <p:sp>
        <p:nvSpPr>
          <p:cNvPr id="29" name="Rounded Rectangle 28"/>
          <p:cNvSpPr/>
          <p:nvPr/>
        </p:nvSpPr>
        <p:spPr>
          <a:xfrm>
            <a:off x="8046720" y="3886200"/>
            <a:ext cx="3566160" cy="1645920"/>
          </a:xfrm>
          <a:prstGeom prst="roundRect">
            <a:avLst>
              <a:gd name="adj" fmla="val 8000"/>
            </a:avLst>
          </a:prstGeom>
          <a:solidFill>
            <a:srgbClr val="0F3D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75320" y="4023360"/>
            <a:ext cx="3154680" cy="1463040"/>
          </a:xfrm>
          <a:prstGeom prst="rect">
            <a:avLst/>
          </a:prstGeom>
          <a:noFill/>
        </p:spPr>
        <p:txBody>
          <a:bodyPr wrap="square" anchor="t" lIns="45720" rIns="45720">
            <a:spAutoFit/>
          </a:bodyPr>
          <a:lstStyle/>
          <a:p>
            <a:pPr algn="l">
              <a:spcAft>
                <a:spcPts val="600"/>
              </a:spcAft>
            </a:pPr>
            <a:r>
              <a:rPr sz="1500" b="1" i="0">
                <a:solidFill>
                  <a:srgbClr val="E3A72F"/>
                </a:solidFill>
                <a:latin typeface="Calibri"/>
              </a:rPr>
              <a:t>Did it help?</a:t>
            </a:r>
          </a:p>
          <a:p>
            <a:pPr algn="l">
              <a:spcAft>
                <a:spcPts val="600"/>
              </a:spcAft>
            </a:pPr>
            <a:r>
              <a:rPr sz="1400" b="0" i="0">
                <a:solidFill>
                  <a:srgbClr val="FFFFFF"/>
                </a:solidFill>
                <a:latin typeface="Calibri"/>
              </a:rPr>
              <a:t>LR test ROC-AUC 0.852 → 0.870. LoanToIncome &amp; BalanceIncome are the Random Forest's #2 and #3 columns.</a:t>
            </a:r>
          </a:p>
        </p:txBody>
      </p:sp>
      <p:sp>
        <p:nvSpPr>
          <p:cNvPr id="31" name="TextBox 30"/>
          <p:cNvSpPr txBox="1"/>
          <p:nvPr/>
        </p:nvSpPr>
        <p:spPr>
          <a:xfrm>
            <a:off x="548640" y="5897880"/>
            <a:ext cx="10972800" cy="365760"/>
          </a:xfrm>
          <a:prstGeom prst="rect">
            <a:avLst/>
          </a:prstGeom>
          <a:noFill/>
        </p:spPr>
        <p:txBody>
          <a:bodyPr wrap="square" anchor="t" lIns="45720" rIns="45720">
            <a:spAutoFit/>
          </a:bodyPr>
          <a:lstStyle/>
          <a:p>
            <a:pPr algn="l">
              <a:spcAft>
                <a:spcPts val="600"/>
              </a:spcAft>
            </a:pPr>
            <a:r>
              <a:rPr sz="1300" b="0" i="1">
                <a:solidFill>
                  <a:srgbClr val="5B6B6B"/>
                </a:solidFill>
                <a:latin typeface="Calibri"/>
              </a:rPr>
              <a:t>Computed inside the pipeline (src/features.py), so the app sends only raw values.</a:t>
            </a:r>
          </a:p>
        </p:txBody>
      </p:sp>
      <p:sp>
        <p:nvSpPr>
          <p:cNvPr id="32" name="TextBox 31"/>
          <p:cNvSpPr txBox="1"/>
          <p:nvPr/>
        </p:nvSpPr>
        <p:spPr>
          <a:xfrm>
            <a:off x="10881360" y="6400800"/>
            <a:ext cx="822960" cy="274320"/>
          </a:xfrm>
          <a:prstGeom prst="rect">
            <a:avLst/>
          </a:prstGeom>
          <a:noFill/>
        </p:spPr>
        <p:txBody>
          <a:bodyPr wrap="square" anchor="t" lIns="45720" rIns="45720">
            <a:spAutoFit/>
          </a:bodyPr>
          <a:lstStyle/>
          <a:p>
            <a:pPr algn="r">
              <a:spcAft>
                <a:spcPts val="600"/>
              </a:spcAft>
            </a:pPr>
            <a:r>
              <a:rPr sz="1000" b="0" i="0">
                <a:solidFill>
                  <a:srgbClr val="5B6B6B"/>
                </a:solidFill>
                <a:latin typeface="Calibri"/>
              </a:rPr>
              <a:t>6 / 14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64240" cy="777240"/>
          </a:xfrm>
          <a:prstGeom prst="rect">
            <a:avLst/>
          </a:prstGeom>
          <a:noFill/>
        </p:spPr>
        <p:txBody>
          <a:bodyPr wrap="square" anchor="ctr" lIns="45720" rIns="45720">
            <a:spAutoFit/>
          </a:bodyPr>
          <a:lstStyle/>
          <a:p>
            <a:pPr algn="l">
              <a:spcAft>
                <a:spcPts val="600"/>
              </a:spcAft>
            </a:pPr>
            <a:r>
              <a:rPr sz="3400" b="1" i="0">
                <a:solidFill>
                  <a:srgbClr val="0F3D3E"/>
                </a:solidFill>
                <a:latin typeface="Cambria"/>
              </a:rPr>
              <a:t>How the data flows: one leakage-safe pipeline</a:t>
            </a:r>
          </a:p>
        </p:txBody>
      </p:sp>
      <p:sp>
        <p:nvSpPr>
          <p:cNvPr id="3" name="Rounded Rectangle 2"/>
          <p:cNvSpPr/>
          <p:nvPr/>
        </p:nvSpPr>
        <p:spPr>
          <a:xfrm>
            <a:off x="548640" y="1463040"/>
            <a:ext cx="1645920" cy="1737360"/>
          </a:xfrm>
          <a:prstGeom prst="roundRect">
            <a:avLst>
              <a:gd name="adj" fmla="val 8000"/>
            </a:avLst>
          </a:prstGeom>
          <a:solidFill>
            <a:srgbClr val="0F3D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97280" y="1234440"/>
            <a:ext cx="502920" cy="502920"/>
          </a:xfrm>
          <a:prstGeom prst="ellipse">
            <a:avLst/>
          </a:prstGeom>
          <a:solidFill>
            <a:srgbClr val="E3A72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0F3D3E"/>
                </a:solidFill>
                <a:latin typeface="Cambria"/>
              </a:rPr>
              <a:t>1</a:t>
            </a:r>
          </a:p>
        </p:txBody>
      </p:sp>
      <p:sp>
        <p:nvSpPr>
          <p:cNvPr id="5" name="TextBox 4"/>
          <p:cNvSpPr txBox="1"/>
          <p:nvPr/>
        </p:nvSpPr>
        <p:spPr>
          <a:xfrm>
            <a:off x="640080" y="1874519"/>
            <a:ext cx="1463040" cy="457200"/>
          </a:xfrm>
          <a:prstGeom prst="rect">
            <a:avLst/>
          </a:prstGeom>
          <a:noFill/>
        </p:spPr>
        <p:txBody>
          <a:bodyPr wrap="square" anchor="t" lIns="45720" rIns="45720">
            <a:spAutoFit/>
          </a:bodyPr>
          <a:lstStyle/>
          <a:p>
            <a:pPr algn="ctr">
              <a:spcAft>
                <a:spcPts val="600"/>
              </a:spcAft>
            </a:pPr>
            <a:r>
              <a:rPr sz="1600" b="1" i="0">
                <a:solidFill>
                  <a:srgbClr val="FFFFFF"/>
                </a:solidFill>
                <a:latin typeface="Calibri"/>
              </a:rPr>
              <a:t>Raw row</a:t>
            </a:r>
          </a:p>
        </p:txBody>
      </p:sp>
      <p:sp>
        <p:nvSpPr>
          <p:cNvPr id="6" name="TextBox 5"/>
          <p:cNvSpPr txBox="1"/>
          <p:nvPr/>
        </p:nvSpPr>
        <p:spPr>
          <a:xfrm>
            <a:off x="640080" y="2331720"/>
            <a:ext cx="1463040" cy="822960"/>
          </a:xfrm>
          <a:prstGeom prst="rect">
            <a:avLst/>
          </a:prstGeom>
          <a:noFill/>
        </p:spPr>
        <p:txBody>
          <a:bodyPr wrap="square" anchor="t" lIns="45720" rIns="45720">
            <a:spAutoFit/>
          </a:bodyPr>
          <a:lstStyle/>
          <a:p>
            <a:pPr algn="ctr">
              <a:spcAft>
                <a:spcPts val="600"/>
              </a:spcAft>
            </a:pPr>
            <a:r>
              <a:rPr sz="1300" b="0" i="0">
                <a:solidFill>
                  <a:srgbClr val="EAF3F0"/>
                </a:solidFill>
                <a:latin typeface="Calibri"/>
              </a:rPr>
              <a:t>11 columns</a:t>
            </a:r>
          </a:p>
        </p:txBody>
      </p:sp>
      <p:sp>
        <p:nvSpPr>
          <p:cNvPr id="7" name="Right Arrow 6"/>
          <p:cNvSpPr/>
          <p:nvPr/>
        </p:nvSpPr>
        <p:spPr>
          <a:xfrm>
            <a:off x="2231136" y="2212848"/>
            <a:ext cx="201168" cy="256032"/>
          </a:xfrm>
          <a:prstGeom prst="rightArrow">
            <a:avLst/>
          </a:prstGeom>
          <a:solidFill>
            <a:srgbClr val="E3A7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2468880" y="1463040"/>
            <a:ext cx="1645920" cy="1737360"/>
          </a:xfrm>
          <a:prstGeom prst="roundRect">
            <a:avLst>
              <a:gd name="adj" fmla="val 8000"/>
            </a:avLst>
          </a:prstGeom>
          <a:solidFill>
            <a:srgbClr val="EAF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3017520" y="1234440"/>
            <a:ext cx="502920" cy="502920"/>
          </a:xfrm>
          <a:prstGeom prst="ellipse">
            <a:avLst/>
          </a:prstGeom>
          <a:solidFill>
            <a:srgbClr val="E3A72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0F3D3E"/>
                </a:solidFill>
                <a:latin typeface="Cambria"/>
              </a:rPr>
              <a:t>2</a:t>
            </a:r>
          </a:p>
        </p:txBody>
      </p:sp>
      <p:sp>
        <p:nvSpPr>
          <p:cNvPr id="10" name="TextBox 9"/>
          <p:cNvSpPr txBox="1"/>
          <p:nvPr/>
        </p:nvSpPr>
        <p:spPr>
          <a:xfrm>
            <a:off x="2560320" y="1874519"/>
            <a:ext cx="1463040" cy="457200"/>
          </a:xfrm>
          <a:prstGeom prst="rect">
            <a:avLst/>
          </a:prstGeom>
          <a:noFill/>
        </p:spPr>
        <p:txBody>
          <a:bodyPr wrap="square" anchor="t" lIns="45720" rIns="45720">
            <a:spAutoFit/>
          </a:bodyPr>
          <a:lstStyle/>
          <a:p>
            <a:pPr algn="ctr">
              <a:spcAft>
                <a:spcPts val="600"/>
              </a:spcAft>
            </a:pPr>
            <a:r>
              <a:rPr sz="1600" b="1" i="0">
                <a:solidFill>
                  <a:srgbClr val="0F3D3E"/>
                </a:solidFill>
                <a:latin typeface="Calibri"/>
              </a:rPr>
              <a:t>Engineer</a:t>
            </a:r>
          </a:p>
        </p:txBody>
      </p:sp>
      <p:sp>
        <p:nvSpPr>
          <p:cNvPr id="11" name="TextBox 10"/>
          <p:cNvSpPr txBox="1"/>
          <p:nvPr/>
        </p:nvSpPr>
        <p:spPr>
          <a:xfrm>
            <a:off x="2560320" y="2331720"/>
            <a:ext cx="1463040" cy="822960"/>
          </a:xfrm>
          <a:prstGeom prst="rect">
            <a:avLst/>
          </a:prstGeom>
          <a:noFill/>
        </p:spPr>
        <p:txBody>
          <a:bodyPr wrap="square" anchor="t" lIns="45720" rIns="45720">
            <a:spAutoFit/>
          </a:bodyPr>
          <a:lstStyle/>
          <a:p>
            <a:pPr algn="ctr">
              <a:spcAft>
                <a:spcPts val="600"/>
              </a:spcAft>
            </a:pPr>
            <a:r>
              <a:rPr sz="1300" b="0" i="0">
                <a:solidFill>
                  <a:srgbClr val="5B6B6B"/>
                </a:solidFill>
                <a:latin typeface="Calibri"/>
              </a:rPr>
              <a:t>+5 features</a:t>
            </a:r>
          </a:p>
        </p:txBody>
      </p:sp>
      <p:sp>
        <p:nvSpPr>
          <p:cNvPr id="12" name="Right Arrow 11"/>
          <p:cNvSpPr/>
          <p:nvPr/>
        </p:nvSpPr>
        <p:spPr>
          <a:xfrm>
            <a:off x="4151376" y="2212848"/>
            <a:ext cx="201168" cy="256032"/>
          </a:xfrm>
          <a:prstGeom prst="rightArrow">
            <a:avLst/>
          </a:prstGeom>
          <a:solidFill>
            <a:srgbClr val="E3A7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89120" y="1463040"/>
            <a:ext cx="1645920" cy="1737360"/>
          </a:xfrm>
          <a:prstGeom prst="roundRect">
            <a:avLst>
              <a:gd name="adj" fmla="val 8000"/>
            </a:avLst>
          </a:prstGeom>
          <a:solidFill>
            <a:srgbClr val="EAF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937759" y="1234440"/>
            <a:ext cx="502920" cy="502920"/>
          </a:xfrm>
          <a:prstGeom prst="ellipse">
            <a:avLst/>
          </a:prstGeom>
          <a:solidFill>
            <a:srgbClr val="E3A72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0F3D3E"/>
                </a:solidFill>
                <a:latin typeface="Cambria"/>
              </a:rPr>
              <a:t>3</a:t>
            </a:r>
          </a:p>
        </p:txBody>
      </p:sp>
      <p:sp>
        <p:nvSpPr>
          <p:cNvPr id="15" name="TextBox 14"/>
          <p:cNvSpPr txBox="1"/>
          <p:nvPr/>
        </p:nvSpPr>
        <p:spPr>
          <a:xfrm>
            <a:off x="4480559" y="1874519"/>
            <a:ext cx="1463040" cy="457200"/>
          </a:xfrm>
          <a:prstGeom prst="rect">
            <a:avLst/>
          </a:prstGeom>
          <a:noFill/>
        </p:spPr>
        <p:txBody>
          <a:bodyPr wrap="square" anchor="t" lIns="45720" rIns="45720">
            <a:spAutoFit/>
          </a:bodyPr>
          <a:lstStyle/>
          <a:p>
            <a:pPr algn="ctr">
              <a:spcAft>
                <a:spcPts val="600"/>
              </a:spcAft>
            </a:pPr>
            <a:r>
              <a:rPr sz="1600" b="1" i="0">
                <a:solidFill>
                  <a:srgbClr val="0F3D3E"/>
                </a:solidFill>
                <a:latin typeface="Calibri"/>
              </a:rPr>
              <a:t>Impute</a:t>
            </a:r>
          </a:p>
        </p:txBody>
      </p:sp>
      <p:sp>
        <p:nvSpPr>
          <p:cNvPr id="16" name="TextBox 15"/>
          <p:cNvSpPr txBox="1"/>
          <p:nvPr/>
        </p:nvSpPr>
        <p:spPr>
          <a:xfrm>
            <a:off x="4480559" y="2331720"/>
            <a:ext cx="1463040" cy="822960"/>
          </a:xfrm>
          <a:prstGeom prst="rect">
            <a:avLst/>
          </a:prstGeom>
          <a:noFill/>
        </p:spPr>
        <p:txBody>
          <a:bodyPr wrap="square" anchor="t" lIns="45720" rIns="45720">
            <a:spAutoFit/>
          </a:bodyPr>
          <a:lstStyle/>
          <a:p>
            <a:pPr algn="ctr">
              <a:spcAft>
                <a:spcPts val="600"/>
              </a:spcAft>
            </a:pPr>
            <a:r>
              <a:rPr sz="1300" b="0" i="0">
                <a:solidFill>
                  <a:srgbClr val="5B6B6B"/>
                </a:solidFill>
                <a:latin typeface="Calibri"/>
              </a:rPr>
              <a:t>median / mode</a:t>
            </a:r>
          </a:p>
        </p:txBody>
      </p:sp>
      <p:sp>
        <p:nvSpPr>
          <p:cNvPr id="17" name="Right Arrow 16"/>
          <p:cNvSpPr/>
          <p:nvPr/>
        </p:nvSpPr>
        <p:spPr>
          <a:xfrm>
            <a:off x="6071616" y="2212848"/>
            <a:ext cx="201168" cy="256032"/>
          </a:xfrm>
          <a:prstGeom prst="rightArrow">
            <a:avLst/>
          </a:prstGeom>
          <a:solidFill>
            <a:srgbClr val="E3A7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309360" y="1463040"/>
            <a:ext cx="1645920" cy="1737360"/>
          </a:xfrm>
          <a:prstGeom prst="roundRect">
            <a:avLst>
              <a:gd name="adj" fmla="val 8000"/>
            </a:avLst>
          </a:prstGeom>
          <a:solidFill>
            <a:srgbClr val="EAF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858000" y="1234440"/>
            <a:ext cx="502920" cy="502920"/>
          </a:xfrm>
          <a:prstGeom prst="ellipse">
            <a:avLst/>
          </a:prstGeom>
          <a:solidFill>
            <a:srgbClr val="E3A72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0F3D3E"/>
                </a:solidFill>
                <a:latin typeface="Cambria"/>
              </a:rPr>
              <a:t>4</a:t>
            </a:r>
          </a:p>
        </p:txBody>
      </p:sp>
      <p:sp>
        <p:nvSpPr>
          <p:cNvPr id="20" name="TextBox 19"/>
          <p:cNvSpPr txBox="1"/>
          <p:nvPr/>
        </p:nvSpPr>
        <p:spPr>
          <a:xfrm>
            <a:off x="6400800" y="1874519"/>
            <a:ext cx="1463040" cy="457200"/>
          </a:xfrm>
          <a:prstGeom prst="rect">
            <a:avLst/>
          </a:prstGeom>
          <a:noFill/>
        </p:spPr>
        <p:txBody>
          <a:bodyPr wrap="square" anchor="t" lIns="45720" rIns="45720">
            <a:spAutoFit/>
          </a:bodyPr>
          <a:lstStyle/>
          <a:p>
            <a:pPr algn="ctr">
              <a:spcAft>
                <a:spcPts val="600"/>
              </a:spcAft>
            </a:pPr>
            <a:r>
              <a:rPr sz="1600" b="1" i="0">
                <a:solidFill>
                  <a:srgbClr val="0F3D3E"/>
                </a:solidFill>
                <a:latin typeface="Calibri"/>
              </a:rPr>
              <a:t>Transform</a:t>
            </a:r>
          </a:p>
        </p:txBody>
      </p:sp>
      <p:sp>
        <p:nvSpPr>
          <p:cNvPr id="21" name="TextBox 20"/>
          <p:cNvSpPr txBox="1"/>
          <p:nvPr/>
        </p:nvSpPr>
        <p:spPr>
          <a:xfrm>
            <a:off x="6400800" y="2331720"/>
            <a:ext cx="1463040" cy="822960"/>
          </a:xfrm>
          <a:prstGeom prst="rect">
            <a:avLst/>
          </a:prstGeom>
          <a:noFill/>
        </p:spPr>
        <p:txBody>
          <a:bodyPr wrap="square" anchor="t" lIns="45720" rIns="45720">
            <a:spAutoFit/>
          </a:bodyPr>
          <a:lstStyle/>
          <a:p>
            <a:pPr algn="ctr">
              <a:spcAft>
                <a:spcPts val="600"/>
              </a:spcAft>
            </a:pPr>
            <a:r>
              <a:rPr sz="1300" b="0" i="0">
                <a:solidFill>
                  <a:srgbClr val="5B6B6B"/>
                </a:solidFill>
                <a:latin typeface="Calibri"/>
              </a:rPr>
              <a:t>StandardScaler</a:t>
            </a:r>
          </a:p>
          <a:p>
            <a:pPr algn="ctr">
              <a:spcAft>
                <a:spcPts val="600"/>
              </a:spcAft>
            </a:pPr>
            <a:r>
              <a:rPr sz="1300" b="0" i="0">
                <a:solidFill>
                  <a:srgbClr val="5B6B6B"/>
                </a:solidFill>
                <a:latin typeface="Calibri"/>
              </a:rPr>
              <a:t>OneHotEncoder</a:t>
            </a:r>
          </a:p>
        </p:txBody>
      </p:sp>
      <p:sp>
        <p:nvSpPr>
          <p:cNvPr id="22" name="Right Arrow 21"/>
          <p:cNvSpPr/>
          <p:nvPr/>
        </p:nvSpPr>
        <p:spPr>
          <a:xfrm>
            <a:off x="7991856" y="2212848"/>
            <a:ext cx="201168" cy="256032"/>
          </a:xfrm>
          <a:prstGeom prst="rightArrow">
            <a:avLst/>
          </a:prstGeom>
          <a:solidFill>
            <a:srgbClr val="E3A7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229600" y="1463040"/>
            <a:ext cx="1645920" cy="1737360"/>
          </a:xfrm>
          <a:prstGeom prst="roundRect">
            <a:avLst>
              <a:gd name="adj" fmla="val 8000"/>
            </a:avLst>
          </a:prstGeom>
          <a:solidFill>
            <a:srgbClr val="EAF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778240" y="1234440"/>
            <a:ext cx="502920" cy="502920"/>
          </a:xfrm>
          <a:prstGeom prst="ellipse">
            <a:avLst/>
          </a:prstGeom>
          <a:solidFill>
            <a:srgbClr val="E3A72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0F3D3E"/>
                </a:solidFill>
                <a:latin typeface="Cambria"/>
              </a:rPr>
              <a:t>5</a:t>
            </a:r>
          </a:p>
        </p:txBody>
      </p:sp>
      <p:sp>
        <p:nvSpPr>
          <p:cNvPr id="25" name="TextBox 24"/>
          <p:cNvSpPr txBox="1"/>
          <p:nvPr/>
        </p:nvSpPr>
        <p:spPr>
          <a:xfrm>
            <a:off x="8321040" y="1874519"/>
            <a:ext cx="1463040" cy="457200"/>
          </a:xfrm>
          <a:prstGeom prst="rect">
            <a:avLst/>
          </a:prstGeom>
          <a:noFill/>
        </p:spPr>
        <p:txBody>
          <a:bodyPr wrap="square" anchor="t" lIns="45720" rIns="45720">
            <a:spAutoFit/>
          </a:bodyPr>
          <a:lstStyle/>
          <a:p>
            <a:pPr algn="ctr">
              <a:spcAft>
                <a:spcPts val="600"/>
              </a:spcAft>
            </a:pPr>
            <a:r>
              <a:rPr sz="1600" b="1" i="0">
                <a:solidFill>
                  <a:srgbClr val="0F3D3E"/>
                </a:solidFill>
                <a:latin typeface="Calibri"/>
              </a:rPr>
              <a:t>Model</a:t>
            </a:r>
          </a:p>
        </p:txBody>
      </p:sp>
      <p:sp>
        <p:nvSpPr>
          <p:cNvPr id="26" name="TextBox 25"/>
          <p:cNvSpPr txBox="1"/>
          <p:nvPr/>
        </p:nvSpPr>
        <p:spPr>
          <a:xfrm>
            <a:off x="8321040" y="2331720"/>
            <a:ext cx="1463040" cy="822960"/>
          </a:xfrm>
          <a:prstGeom prst="rect">
            <a:avLst/>
          </a:prstGeom>
          <a:noFill/>
        </p:spPr>
        <p:txBody>
          <a:bodyPr wrap="square" anchor="t" lIns="45720" rIns="45720">
            <a:spAutoFit/>
          </a:bodyPr>
          <a:lstStyle/>
          <a:p>
            <a:pPr algn="ctr">
              <a:spcAft>
                <a:spcPts val="600"/>
              </a:spcAft>
            </a:pPr>
            <a:r>
              <a:rPr sz="1300" b="0" i="0">
                <a:solidFill>
                  <a:srgbClr val="5B6B6B"/>
                </a:solidFill>
                <a:latin typeface="Calibri"/>
              </a:rPr>
              <a:t>LR · DT · RF</a:t>
            </a:r>
          </a:p>
        </p:txBody>
      </p:sp>
      <p:sp>
        <p:nvSpPr>
          <p:cNvPr id="27" name="Right Arrow 26"/>
          <p:cNvSpPr/>
          <p:nvPr/>
        </p:nvSpPr>
        <p:spPr>
          <a:xfrm>
            <a:off x="9912096" y="2212848"/>
            <a:ext cx="201168" cy="256032"/>
          </a:xfrm>
          <a:prstGeom prst="rightArrow">
            <a:avLst/>
          </a:prstGeom>
          <a:solidFill>
            <a:srgbClr val="E3A7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10149840" y="1463040"/>
            <a:ext cx="1645920" cy="1737360"/>
          </a:xfrm>
          <a:prstGeom prst="roundRect">
            <a:avLst>
              <a:gd name="adj" fmla="val 8000"/>
            </a:avLst>
          </a:prstGeom>
          <a:solidFill>
            <a:srgbClr val="0F3D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698480" y="1234440"/>
            <a:ext cx="502920" cy="502920"/>
          </a:xfrm>
          <a:prstGeom prst="ellipse">
            <a:avLst/>
          </a:prstGeom>
          <a:solidFill>
            <a:srgbClr val="E3A72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0F3D3E"/>
                </a:solidFill>
                <a:latin typeface="Cambria"/>
              </a:rPr>
              <a:t>6</a:t>
            </a:r>
          </a:p>
        </p:txBody>
      </p:sp>
      <p:sp>
        <p:nvSpPr>
          <p:cNvPr id="30" name="TextBox 29"/>
          <p:cNvSpPr txBox="1"/>
          <p:nvPr/>
        </p:nvSpPr>
        <p:spPr>
          <a:xfrm>
            <a:off x="10241280" y="1874519"/>
            <a:ext cx="1463040" cy="457200"/>
          </a:xfrm>
          <a:prstGeom prst="rect">
            <a:avLst/>
          </a:prstGeom>
          <a:noFill/>
        </p:spPr>
        <p:txBody>
          <a:bodyPr wrap="square" anchor="t" lIns="45720" rIns="45720">
            <a:spAutoFit/>
          </a:bodyPr>
          <a:lstStyle/>
          <a:p>
            <a:pPr algn="ctr">
              <a:spcAft>
                <a:spcPts val="600"/>
              </a:spcAft>
            </a:pPr>
            <a:r>
              <a:rPr sz="1600" b="1" i="0">
                <a:solidFill>
                  <a:srgbClr val="FFFFFF"/>
                </a:solidFill>
                <a:latin typeface="Calibri"/>
              </a:rPr>
              <a:t>Output</a:t>
            </a:r>
          </a:p>
        </p:txBody>
      </p:sp>
      <p:sp>
        <p:nvSpPr>
          <p:cNvPr id="31" name="TextBox 30"/>
          <p:cNvSpPr txBox="1"/>
          <p:nvPr/>
        </p:nvSpPr>
        <p:spPr>
          <a:xfrm>
            <a:off x="10241280" y="2331720"/>
            <a:ext cx="1463040" cy="822960"/>
          </a:xfrm>
          <a:prstGeom prst="rect">
            <a:avLst/>
          </a:prstGeom>
          <a:noFill/>
        </p:spPr>
        <p:txBody>
          <a:bodyPr wrap="square" anchor="t" lIns="45720" rIns="45720">
            <a:spAutoFit/>
          </a:bodyPr>
          <a:lstStyle/>
          <a:p>
            <a:pPr algn="ctr">
              <a:spcAft>
                <a:spcPts val="600"/>
              </a:spcAft>
            </a:pPr>
            <a:r>
              <a:rPr sz="1300" b="0" i="0">
                <a:solidFill>
                  <a:srgbClr val="EAF3F0"/>
                </a:solidFill>
                <a:latin typeface="Calibri"/>
              </a:rPr>
              <a:t>Approved?</a:t>
            </a:r>
          </a:p>
          <a:p>
            <a:pPr algn="ctr">
              <a:spcAft>
                <a:spcPts val="600"/>
              </a:spcAft>
            </a:pPr>
            <a:r>
              <a:rPr sz="1300" b="0" i="0">
                <a:solidFill>
                  <a:srgbClr val="EAF3F0"/>
                </a:solidFill>
                <a:latin typeface="Calibri"/>
              </a:rPr>
              <a:t>+ probability</a:t>
            </a:r>
          </a:p>
        </p:txBody>
      </p:sp>
      <p:sp>
        <p:nvSpPr>
          <p:cNvPr id="32" name="TextBox 31"/>
          <p:cNvSpPr txBox="1"/>
          <p:nvPr/>
        </p:nvSpPr>
        <p:spPr>
          <a:xfrm>
            <a:off x="548640" y="3657600"/>
            <a:ext cx="11064240" cy="2560320"/>
          </a:xfrm>
          <a:prstGeom prst="rect">
            <a:avLst/>
          </a:prstGeom>
          <a:noFill/>
        </p:spPr>
        <p:txBody>
          <a:bodyPr wrap="square">
            <a:spAutoFit/>
          </a:bodyPr>
          <a:lstStyle/>
          <a:p>
            <a:pPr marL="256032" indent="-228600">
              <a:spcAft>
                <a:spcPts val="800"/>
              </a:spcAft>
              <a:buChar char="•"/>
            </a:pPr>
            <a:r>
              <a:rPr sz="1700" b="1">
                <a:solidFill>
                  <a:srgbClr val="1E2B2B"/>
                </a:solidFill>
                <a:latin typeface="Calibri"/>
              </a:rPr>
              <a:t>Split first: </a:t>
            </a:r>
            <a:r>
              <a:rPr sz="1700" b="0">
                <a:solidFill>
                  <a:srgbClr val="1E2B2B"/>
                </a:solidFill>
                <a:latin typeface="Calibri"/>
              </a:rPr>
              <a:t>80% train (491 rows) / 20% test (123 rows), stratified, random_state = 42.</a:t>
            </a:r>
          </a:p>
          <a:p>
            <a:pPr marL="256032" indent="-228600">
              <a:spcAft>
                <a:spcPts val="800"/>
              </a:spcAft>
              <a:buChar char="•"/>
            </a:pPr>
            <a:r>
              <a:rPr sz="1700" b="1">
                <a:solidFill>
                  <a:srgbClr val="1E2B2B"/>
                </a:solidFill>
                <a:latin typeface="Calibri"/>
              </a:rPr>
              <a:t>Fit on train only: </a:t>
            </a:r>
            <a:r>
              <a:rPr sz="1700" b="0">
                <a:solidFill>
                  <a:srgbClr val="1E2B2B"/>
                </a:solidFill>
                <a:latin typeface="Calibri"/>
              </a:rPr>
              <a:t>imputers, scaler and encoder learn their values from the 491 training rows and are then applied unchanged to test rows. No data leakage.</a:t>
            </a:r>
          </a:p>
          <a:p>
            <a:pPr marL="256032" indent="-228600">
              <a:spcAft>
                <a:spcPts val="800"/>
              </a:spcAft>
              <a:buChar char="•"/>
            </a:pPr>
            <a:r>
              <a:rPr sz="1700" b="1">
                <a:solidFill>
                  <a:srgbClr val="1E2B2B"/>
                </a:solidFill>
                <a:latin typeface="Calibri"/>
              </a:rPr>
              <a:t>One object: </a:t>
            </a:r>
            <a:r>
              <a:rPr sz="1700" b="0">
                <a:solidFill>
                  <a:srgbClr val="1E2B2B"/>
                </a:solidFill>
                <a:latin typeface="Calibri"/>
              </a:rPr>
              <a:t>preprocessing + model are saved together (pickle), so the app processes inputs exactly like training did.</a:t>
            </a:r>
          </a:p>
        </p:txBody>
      </p:sp>
      <p:sp>
        <p:nvSpPr>
          <p:cNvPr id="33" name="TextBox 32"/>
          <p:cNvSpPr txBox="1"/>
          <p:nvPr/>
        </p:nvSpPr>
        <p:spPr>
          <a:xfrm>
            <a:off x="10881360" y="6400800"/>
            <a:ext cx="822960" cy="274320"/>
          </a:xfrm>
          <a:prstGeom prst="rect">
            <a:avLst/>
          </a:prstGeom>
          <a:noFill/>
        </p:spPr>
        <p:txBody>
          <a:bodyPr wrap="square" anchor="t" lIns="45720" rIns="45720">
            <a:spAutoFit/>
          </a:bodyPr>
          <a:lstStyle/>
          <a:p>
            <a:pPr algn="r">
              <a:spcAft>
                <a:spcPts val="600"/>
              </a:spcAft>
            </a:pPr>
            <a:r>
              <a:rPr sz="1000" b="0" i="0">
                <a:solidFill>
                  <a:srgbClr val="5B6B6B"/>
                </a:solidFill>
                <a:latin typeface="Calibri"/>
              </a:rPr>
              <a:t>7 / 14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64240" cy="777240"/>
          </a:xfrm>
          <a:prstGeom prst="rect">
            <a:avLst/>
          </a:prstGeom>
          <a:noFill/>
        </p:spPr>
        <p:txBody>
          <a:bodyPr wrap="square" anchor="ctr" lIns="45720" rIns="45720">
            <a:spAutoFit/>
          </a:bodyPr>
          <a:lstStyle/>
          <a:p>
            <a:pPr algn="l">
              <a:spcAft>
                <a:spcPts val="600"/>
              </a:spcAft>
            </a:pPr>
            <a:r>
              <a:rPr sz="3400" b="1" i="0">
                <a:solidFill>
                  <a:srgbClr val="0F3D3E"/>
                </a:solidFill>
                <a:latin typeface="Cambria"/>
              </a:rPr>
              <a:t>Three models compared</a:t>
            </a:r>
          </a:p>
        </p:txBody>
      </p:sp>
      <p:sp>
        <p:nvSpPr>
          <p:cNvPr id="3" name="Rounded Rectangle 2"/>
          <p:cNvSpPr/>
          <p:nvPr/>
        </p:nvSpPr>
        <p:spPr>
          <a:xfrm>
            <a:off x="548640" y="1325880"/>
            <a:ext cx="3520440" cy="3749039"/>
          </a:xfrm>
          <a:prstGeom prst="roundRect">
            <a:avLst>
              <a:gd name="adj" fmla="val 8000"/>
            </a:avLst>
          </a:prstGeom>
          <a:solidFill>
            <a:srgbClr val="EAF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59" y="1508760"/>
            <a:ext cx="3017520" cy="502920"/>
          </a:xfrm>
          <a:prstGeom prst="rect">
            <a:avLst/>
          </a:prstGeom>
          <a:noFill/>
        </p:spPr>
        <p:txBody>
          <a:bodyPr wrap="square" anchor="t" lIns="45720" rIns="45720">
            <a:spAutoFit/>
          </a:bodyPr>
          <a:lstStyle/>
          <a:p>
            <a:pPr algn="l">
              <a:spcAft>
                <a:spcPts val="600"/>
              </a:spcAft>
            </a:pPr>
            <a:r>
              <a:rPr sz="2100" b="1" i="0">
                <a:solidFill>
                  <a:srgbClr val="0F3D3E"/>
                </a:solidFill>
                <a:latin typeface="Cambria"/>
              </a:rPr>
              <a:t>Logistic Regression</a:t>
            </a:r>
          </a:p>
        </p:txBody>
      </p:sp>
      <p:sp>
        <p:nvSpPr>
          <p:cNvPr id="5" name="TextBox 4"/>
          <p:cNvSpPr txBox="1"/>
          <p:nvPr/>
        </p:nvSpPr>
        <p:spPr>
          <a:xfrm>
            <a:off x="822959" y="2011680"/>
            <a:ext cx="3017520" cy="365760"/>
          </a:xfrm>
          <a:prstGeom prst="rect">
            <a:avLst/>
          </a:prstGeom>
          <a:noFill/>
        </p:spPr>
        <p:txBody>
          <a:bodyPr wrap="square" anchor="t" lIns="45720" rIns="45720">
            <a:spAutoFit/>
          </a:bodyPr>
          <a:lstStyle/>
          <a:p>
            <a:pPr algn="l">
              <a:spcAft>
                <a:spcPts val="600"/>
              </a:spcAft>
            </a:pPr>
            <a:r>
              <a:rPr sz="1400" b="1" i="0">
                <a:solidFill>
                  <a:srgbClr val="E3A72F"/>
                </a:solidFill>
                <a:latin typeface="Calibri"/>
              </a:rPr>
              <a:t>Linear baseline</a:t>
            </a:r>
          </a:p>
        </p:txBody>
      </p:sp>
      <p:sp>
        <p:nvSpPr>
          <p:cNvPr id="6" name="TextBox 5"/>
          <p:cNvSpPr txBox="1"/>
          <p:nvPr/>
        </p:nvSpPr>
        <p:spPr>
          <a:xfrm>
            <a:off x="822959" y="2560320"/>
            <a:ext cx="3063240" cy="2194560"/>
          </a:xfrm>
          <a:prstGeom prst="rect">
            <a:avLst/>
          </a:prstGeom>
          <a:noFill/>
        </p:spPr>
        <p:txBody>
          <a:bodyPr wrap="square">
            <a:spAutoFit/>
          </a:bodyPr>
          <a:lstStyle/>
          <a:p>
            <a:pPr marL="256032" indent="-228600">
              <a:spcAft>
                <a:spcPts val="800"/>
              </a:spcAft>
              <a:buChar char="•"/>
            </a:pPr>
            <a:r>
              <a:rPr sz="1500" b="0">
                <a:solidFill>
                  <a:srgbClr val="1E2B2B"/>
                </a:solidFill>
                <a:latin typeface="Calibri"/>
              </a:rPr>
              <a:t>Weighted sum → sigmoid → probability</a:t>
            </a:r>
          </a:p>
          <a:p>
            <a:pPr marL="256032" indent="-228600">
              <a:spcAft>
                <a:spcPts val="800"/>
              </a:spcAft>
              <a:buChar char="•"/>
            </a:pPr>
            <a:r>
              <a:rPr sz="1500" b="0">
                <a:solidFill>
                  <a:srgbClr val="1E2B2B"/>
                </a:solidFill>
                <a:latin typeface="Calibri"/>
              </a:rPr>
              <a:t>Needs scaled features</a:t>
            </a:r>
          </a:p>
          <a:p>
            <a:pPr marL="256032" indent="-228600">
              <a:spcAft>
                <a:spcPts val="800"/>
              </a:spcAft>
              <a:buChar char="•"/>
            </a:pPr>
            <a:r>
              <a:rPr sz="1500" b="0">
                <a:solidFill>
                  <a:srgbClr val="1E2B2B"/>
                </a:solidFill>
                <a:latin typeface="Calibri"/>
              </a:rPr>
              <a:t>Easy to interpret (weights)</a:t>
            </a:r>
          </a:p>
        </p:txBody>
      </p:sp>
      <p:sp>
        <p:nvSpPr>
          <p:cNvPr id="7" name="Rounded Rectangle 6"/>
          <p:cNvSpPr/>
          <p:nvPr/>
        </p:nvSpPr>
        <p:spPr>
          <a:xfrm>
            <a:off x="4297679" y="1325880"/>
            <a:ext cx="3520440" cy="3749039"/>
          </a:xfrm>
          <a:prstGeom prst="roundRect">
            <a:avLst>
              <a:gd name="adj" fmla="val 8000"/>
            </a:avLst>
          </a:prstGeom>
          <a:solidFill>
            <a:srgbClr val="EAF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1999" y="1508760"/>
            <a:ext cx="3017520" cy="502920"/>
          </a:xfrm>
          <a:prstGeom prst="rect">
            <a:avLst/>
          </a:prstGeom>
          <a:noFill/>
        </p:spPr>
        <p:txBody>
          <a:bodyPr wrap="square" anchor="t" lIns="45720" rIns="45720">
            <a:spAutoFit/>
          </a:bodyPr>
          <a:lstStyle/>
          <a:p>
            <a:pPr algn="l">
              <a:spcAft>
                <a:spcPts val="600"/>
              </a:spcAft>
            </a:pPr>
            <a:r>
              <a:rPr sz="2100" b="1" i="0">
                <a:solidFill>
                  <a:srgbClr val="0F3D3E"/>
                </a:solidFill>
                <a:latin typeface="Cambria"/>
              </a:rPr>
              <a:t>Decision Tree</a:t>
            </a:r>
          </a:p>
        </p:txBody>
      </p:sp>
      <p:sp>
        <p:nvSpPr>
          <p:cNvPr id="9" name="TextBox 8"/>
          <p:cNvSpPr txBox="1"/>
          <p:nvPr/>
        </p:nvSpPr>
        <p:spPr>
          <a:xfrm>
            <a:off x="4571999" y="2011680"/>
            <a:ext cx="3017520" cy="365760"/>
          </a:xfrm>
          <a:prstGeom prst="rect">
            <a:avLst/>
          </a:prstGeom>
          <a:noFill/>
        </p:spPr>
        <p:txBody>
          <a:bodyPr wrap="square" anchor="t" lIns="45720" rIns="45720">
            <a:spAutoFit/>
          </a:bodyPr>
          <a:lstStyle/>
          <a:p>
            <a:pPr algn="l">
              <a:spcAft>
                <a:spcPts val="600"/>
              </a:spcAft>
            </a:pPr>
            <a:r>
              <a:rPr sz="1400" b="1" i="0">
                <a:solidFill>
                  <a:srgbClr val="E3A72F"/>
                </a:solidFill>
                <a:latin typeface="Calibri"/>
              </a:rPr>
              <a:t>Rule-based (max depth 4)</a:t>
            </a:r>
          </a:p>
        </p:txBody>
      </p:sp>
      <p:sp>
        <p:nvSpPr>
          <p:cNvPr id="10" name="TextBox 9"/>
          <p:cNvSpPr txBox="1"/>
          <p:nvPr/>
        </p:nvSpPr>
        <p:spPr>
          <a:xfrm>
            <a:off x="4571999" y="2560320"/>
            <a:ext cx="3063240" cy="2194560"/>
          </a:xfrm>
          <a:prstGeom prst="rect">
            <a:avLst/>
          </a:prstGeom>
          <a:noFill/>
        </p:spPr>
        <p:txBody>
          <a:bodyPr wrap="square">
            <a:spAutoFit/>
          </a:bodyPr>
          <a:lstStyle/>
          <a:p>
            <a:pPr marL="256032" indent="-228600">
              <a:spcAft>
                <a:spcPts val="800"/>
              </a:spcAft>
              <a:buChar char="•"/>
            </a:pPr>
            <a:r>
              <a:rPr sz="1500" b="0">
                <a:solidFill>
                  <a:srgbClr val="1E2B2B"/>
                </a:solidFill>
                <a:latin typeface="Calibri"/>
              </a:rPr>
              <a:t>Learns yes/no questions using Gini impurity</a:t>
            </a:r>
          </a:p>
          <a:p>
            <a:pPr marL="256032" indent="-228600">
              <a:spcAft>
                <a:spcPts val="800"/>
              </a:spcAft>
              <a:buChar char="•"/>
            </a:pPr>
            <a:r>
              <a:rPr sz="1500" b="0">
                <a:solidFill>
                  <a:srgbClr val="1E2B2B"/>
                </a:solidFill>
                <a:latin typeface="Calibri"/>
              </a:rPr>
              <a:t>Depth capped to avoid memorising</a:t>
            </a:r>
          </a:p>
          <a:p>
            <a:pPr marL="256032" indent="-228600">
              <a:spcAft>
                <a:spcPts val="800"/>
              </a:spcAft>
              <a:buChar char="•"/>
            </a:pPr>
            <a:r>
              <a:rPr sz="1500" b="0">
                <a:solidFill>
                  <a:srgbClr val="1E2B2B"/>
                </a:solidFill>
                <a:latin typeface="Calibri"/>
              </a:rPr>
              <a:t>Human-readable rules</a:t>
            </a:r>
          </a:p>
        </p:txBody>
      </p:sp>
      <p:sp>
        <p:nvSpPr>
          <p:cNvPr id="11" name="Rounded Rectangle 10"/>
          <p:cNvSpPr/>
          <p:nvPr/>
        </p:nvSpPr>
        <p:spPr>
          <a:xfrm>
            <a:off x="8046719" y="1325880"/>
            <a:ext cx="3520440" cy="3749039"/>
          </a:xfrm>
          <a:prstGeom prst="roundRect">
            <a:avLst>
              <a:gd name="adj" fmla="val 8000"/>
            </a:avLst>
          </a:prstGeom>
          <a:solidFill>
            <a:srgbClr val="0F3D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21040" y="1508760"/>
            <a:ext cx="3017520" cy="502920"/>
          </a:xfrm>
          <a:prstGeom prst="rect">
            <a:avLst/>
          </a:prstGeom>
          <a:noFill/>
        </p:spPr>
        <p:txBody>
          <a:bodyPr wrap="square" anchor="t" lIns="45720" rIns="45720">
            <a:spAutoFit/>
          </a:bodyPr>
          <a:lstStyle/>
          <a:p>
            <a:pPr algn="l">
              <a:spcAft>
                <a:spcPts val="600"/>
              </a:spcAft>
            </a:pPr>
            <a:r>
              <a:rPr sz="2100" b="1" i="0">
                <a:solidFill>
                  <a:srgbClr val="FFFFFF"/>
                </a:solidFill>
                <a:latin typeface="Cambria"/>
              </a:rPr>
              <a:t>Random Forest</a:t>
            </a:r>
          </a:p>
        </p:txBody>
      </p:sp>
      <p:sp>
        <p:nvSpPr>
          <p:cNvPr id="13" name="TextBox 12"/>
          <p:cNvSpPr txBox="1"/>
          <p:nvPr/>
        </p:nvSpPr>
        <p:spPr>
          <a:xfrm>
            <a:off x="8321040" y="2011680"/>
            <a:ext cx="3017520" cy="365760"/>
          </a:xfrm>
          <a:prstGeom prst="rect">
            <a:avLst/>
          </a:prstGeom>
          <a:noFill/>
        </p:spPr>
        <p:txBody>
          <a:bodyPr wrap="square" anchor="t" lIns="45720" rIns="45720">
            <a:spAutoFit/>
          </a:bodyPr>
          <a:lstStyle/>
          <a:p>
            <a:pPr algn="l">
              <a:spcAft>
                <a:spcPts val="600"/>
              </a:spcAft>
            </a:pPr>
            <a:r>
              <a:rPr sz="1400" b="1" i="0">
                <a:solidFill>
                  <a:srgbClr val="E3A72F"/>
                </a:solidFill>
                <a:latin typeface="Calibri"/>
              </a:rPr>
              <a:t>Ensemble of 300 trees (new)</a:t>
            </a:r>
          </a:p>
        </p:txBody>
      </p:sp>
      <p:sp>
        <p:nvSpPr>
          <p:cNvPr id="14" name="TextBox 13"/>
          <p:cNvSpPr txBox="1"/>
          <p:nvPr/>
        </p:nvSpPr>
        <p:spPr>
          <a:xfrm>
            <a:off x="8321040" y="2560320"/>
            <a:ext cx="3063240" cy="2194560"/>
          </a:xfrm>
          <a:prstGeom prst="rect">
            <a:avLst/>
          </a:prstGeom>
          <a:noFill/>
        </p:spPr>
        <p:txBody>
          <a:bodyPr wrap="square">
            <a:spAutoFit/>
          </a:bodyPr>
          <a:lstStyle/>
          <a:p>
            <a:pPr marL="256032" indent="-228600">
              <a:spcAft>
                <a:spcPts val="800"/>
              </a:spcAft>
              <a:buChar char="•"/>
            </a:pPr>
            <a:r>
              <a:rPr sz="1500" b="0">
                <a:solidFill>
                  <a:srgbClr val="FFFFFF"/>
                </a:solidFill>
                <a:latin typeface="Calibri"/>
              </a:rPr>
              <a:t>Each tree sees random rows + features</a:t>
            </a:r>
          </a:p>
          <a:p>
            <a:pPr marL="256032" indent="-228600">
              <a:spcAft>
                <a:spcPts val="800"/>
              </a:spcAft>
              <a:buChar char="•"/>
            </a:pPr>
            <a:r>
              <a:rPr sz="1500" b="1">
                <a:solidFill>
                  <a:srgbClr val="FFFFFF"/>
                </a:solidFill>
                <a:latin typeface="Calibri"/>
              </a:rPr>
              <a:t>Trees vote: </a:t>
            </a:r>
            <a:r>
              <a:rPr sz="1500" b="0">
                <a:solidFill>
                  <a:srgbClr val="FFFFFF"/>
                </a:solidFill>
                <a:latin typeface="Calibri"/>
              </a:rPr>
              <a:t>their errors average out</a:t>
            </a:r>
          </a:p>
          <a:p>
            <a:pPr marL="256032" indent="-228600">
              <a:spcAft>
                <a:spcPts val="800"/>
              </a:spcAft>
              <a:buChar char="•"/>
            </a:pPr>
            <a:r>
              <a:rPr sz="1500" b="0">
                <a:solidFill>
                  <a:srgbClr val="FFFFFF"/>
                </a:solidFill>
                <a:latin typeface="Calibri"/>
              </a:rPr>
              <a:t>Usually beats one tree</a:t>
            </a:r>
          </a:p>
        </p:txBody>
      </p:sp>
      <p:sp>
        <p:nvSpPr>
          <p:cNvPr id="15" name="TextBox 14"/>
          <p:cNvSpPr txBox="1"/>
          <p:nvPr/>
        </p:nvSpPr>
        <p:spPr>
          <a:xfrm>
            <a:off x="8321040" y="4526280"/>
            <a:ext cx="3017520" cy="365760"/>
          </a:xfrm>
          <a:prstGeom prst="rect">
            <a:avLst/>
          </a:prstGeom>
          <a:noFill/>
        </p:spPr>
        <p:txBody>
          <a:bodyPr wrap="square" anchor="t" lIns="45720" rIns="45720">
            <a:spAutoFit/>
          </a:bodyPr>
          <a:lstStyle/>
          <a:p>
            <a:pPr algn="l">
              <a:spcAft>
                <a:spcPts val="600"/>
              </a:spcAft>
            </a:pPr>
            <a:r>
              <a:rPr sz="1400" b="1" i="0">
                <a:solidFill>
                  <a:srgbClr val="E3A72F"/>
                </a:solidFill>
                <a:latin typeface="Calibri"/>
              </a:rPr>
              <a:t>★ Selected model</a:t>
            </a:r>
          </a:p>
        </p:txBody>
      </p:sp>
      <p:sp>
        <p:nvSpPr>
          <p:cNvPr id="16" name="TextBox 15"/>
          <p:cNvSpPr txBox="1"/>
          <p:nvPr/>
        </p:nvSpPr>
        <p:spPr>
          <a:xfrm>
            <a:off x="548640" y="5394960"/>
            <a:ext cx="10972800" cy="365760"/>
          </a:xfrm>
          <a:prstGeom prst="rect">
            <a:avLst/>
          </a:prstGeom>
          <a:noFill/>
        </p:spPr>
        <p:txBody>
          <a:bodyPr wrap="square" anchor="t" lIns="45720" rIns="45720">
            <a:spAutoFit/>
          </a:bodyPr>
          <a:lstStyle/>
          <a:p>
            <a:pPr algn="l">
              <a:spcAft>
                <a:spcPts val="600"/>
              </a:spcAft>
            </a:pPr>
            <a:r>
              <a:rPr sz="1400" b="0" i="1">
                <a:solidFill>
                  <a:srgbClr val="5B6B6B"/>
                </a:solidFill>
                <a:latin typeface="Calibri"/>
              </a:rPr>
              <a:t>All three share the same features and preprocessing, so the comparison is fair.</a:t>
            </a:r>
          </a:p>
        </p:txBody>
      </p:sp>
      <p:sp>
        <p:nvSpPr>
          <p:cNvPr id="17" name="TextBox 16"/>
          <p:cNvSpPr txBox="1"/>
          <p:nvPr/>
        </p:nvSpPr>
        <p:spPr>
          <a:xfrm>
            <a:off x="10881360" y="6400800"/>
            <a:ext cx="822960" cy="274320"/>
          </a:xfrm>
          <a:prstGeom prst="rect">
            <a:avLst/>
          </a:prstGeom>
          <a:noFill/>
        </p:spPr>
        <p:txBody>
          <a:bodyPr wrap="square" anchor="t" lIns="45720" rIns="45720">
            <a:spAutoFit/>
          </a:bodyPr>
          <a:lstStyle/>
          <a:p>
            <a:pPr algn="r">
              <a:spcAft>
                <a:spcPts val="600"/>
              </a:spcAft>
            </a:pPr>
            <a:r>
              <a:rPr sz="1000" b="0" i="0">
                <a:solidFill>
                  <a:srgbClr val="5B6B6B"/>
                </a:solidFill>
                <a:latin typeface="Calibri"/>
              </a:rPr>
              <a:t>8 / 14</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64240" cy="777240"/>
          </a:xfrm>
          <a:prstGeom prst="rect">
            <a:avLst/>
          </a:prstGeom>
          <a:noFill/>
        </p:spPr>
        <p:txBody>
          <a:bodyPr wrap="square" anchor="ctr" lIns="45720" rIns="45720">
            <a:spAutoFit/>
          </a:bodyPr>
          <a:lstStyle/>
          <a:p>
            <a:pPr algn="l">
              <a:spcAft>
                <a:spcPts val="600"/>
              </a:spcAft>
            </a:pPr>
            <a:r>
              <a:rPr sz="3400" b="1" i="0">
                <a:solidFill>
                  <a:srgbClr val="0F3D3E"/>
                </a:solidFill>
                <a:latin typeface="Cambria"/>
              </a:rPr>
              <a:t>How we evaluate fairly</a:t>
            </a:r>
          </a:p>
        </p:txBody>
      </p:sp>
      <p:sp>
        <p:nvSpPr>
          <p:cNvPr id="3" name="Rounded Rectangle 2"/>
          <p:cNvSpPr/>
          <p:nvPr/>
        </p:nvSpPr>
        <p:spPr>
          <a:xfrm>
            <a:off x="548640" y="1325880"/>
            <a:ext cx="5394960" cy="4754880"/>
          </a:xfrm>
          <a:prstGeom prst="roundRect">
            <a:avLst>
              <a:gd name="adj" fmla="val 8000"/>
            </a:avLst>
          </a:prstGeom>
          <a:solidFill>
            <a:srgbClr val="EAF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463040"/>
            <a:ext cx="4937760" cy="457200"/>
          </a:xfrm>
          <a:prstGeom prst="rect">
            <a:avLst/>
          </a:prstGeom>
          <a:noFill/>
        </p:spPr>
        <p:txBody>
          <a:bodyPr wrap="square" anchor="t" lIns="45720" rIns="45720">
            <a:spAutoFit/>
          </a:bodyPr>
          <a:lstStyle/>
          <a:p>
            <a:pPr algn="l">
              <a:spcAft>
                <a:spcPts val="600"/>
              </a:spcAft>
            </a:pPr>
            <a:r>
              <a:rPr sz="1900" b="1" i="0">
                <a:solidFill>
                  <a:srgbClr val="0F3D3E"/>
                </a:solidFill>
                <a:latin typeface="Calibri"/>
              </a:rPr>
              <a:t>5-fold cross-validation (new)</a:t>
            </a:r>
          </a:p>
        </p:txBody>
      </p:sp>
      <p:sp>
        <p:nvSpPr>
          <p:cNvPr id="5" name="Rectangle 4"/>
          <p:cNvSpPr/>
          <p:nvPr/>
        </p:nvSpPr>
        <p:spPr>
          <a:xfrm>
            <a:off x="822960" y="2103120"/>
            <a:ext cx="713232" cy="347472"/>
          </a:xfrm>
          <a:prstGeom prst="rect">
            <a:avLst/>
          </a:prstGeom>
          <a:solidFill>
            <a:srgbClr val="E3A7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600200" y="2103120"/>
            <a:ext cx="713232" cy="347472"/>
          </a:xfrm>
          <a:prstGeom prst="rect">
            <a:avLst/>
          </a:prstGeom>
          <a:solidFill>
            <a:srgbClr val="1F6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377440" y="2103120"/>
            <a:ext cx="713232" cy="347472"/>
          </a:xfrm>
          <a:prstGeom prst="rect">
            <a:avLst/>
          </a:prstGeom>
          <a:solidFill>
            <a:srgbClr val="1F6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154679" y="2103120"/>
            <a:ext cx="713232" cy="347472"/>
          </a:xfrm>
          <a:prstGeom prst="rect">
            <a:avLst/>
          </a:prstGeom>
          <a:solidFill>
            <a:srgbClr val="1F6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931920" y="2103120"/>
            <a:ext cx="713232" cy="347472"/>
          </a:xfrm>
          <a:prstGeom prst="rect">
            <a:avLst/>
          </a:prstGeom>
          <a:solidFill>
            <a:srgbClr val="1F6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22960" y="2560320"/>
            <a:ext cx="713232" cy="347472"/>
          </a:xfrm>
          <a:prstGeom prst="rect">
            <a:avLst/>
          </a:prstGeom>
          <a:solidFill>
            <a:srgbClr val="1F6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600200" y="2560320"/>
            <a:ext cx="713232" cy="347472"/>
          </a:xfrm>
          <a:prstGeom prst="rect">
            <a:avLst/>
          </a:prstGeom>
          <a:solidFill>
            <a:srgbClr val="E3A7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377440" y="2560320"/>
            <a:ext cx="713232" cy="347472"/>
          </a:xfrm>
          <a:prstGeom prst="rect">
            <a:avLst/>
          </a:prstGeom>
          <a:solidFill>
            <a:srgbClr val="1F6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154679" y="2560320"/>
            <a:ext cx="713232" cy="347472"/>
          </a:xfrm>
          <a:prstGeom prst="rect">
            <a:avLst/>
          </a:prstGeom>
          <a:solidFill>
            <a:srgbClr val="1F6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931920" y="2560320"/>
            <a:ext cx="713232" cy="347472"/>
          </a:xfrm>
          <a:prstGeom prst="rect">
            <a:avLst/>
          </a:prstGeom>
          <a:solidFill>
            <a:srgbClr val="1F6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22960" y="3017520"/>
            <a:ext cx="713232" cy="347472"/>
          </a:xfrm>
          <a:prstGeom prst="rect">
            <a:avLst/>
          </a:prstGeom>
          <a:solidFill>
            <a:srgbClr val="1F6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600200" y="3017520"/>
            <a:ext cx="713232" cy="347472"/>
          </a:xfrm>
          <a:prstGeom prst="rect">
            <a:avLst/>
          </a:prstGeom>
          <a:solidFill>
            <a:srgbClr val="1F6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377440" y="3017520"/>
            <a:ext cx="713232" cy="347472"/>
          </a:xfrm>
          <a:prstGeom prst="rect">
            <a:avLst/>
          </a:prstGeom>
          <a:solidFill>
            <a:srgbClr val="E3A7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154679" y="3017520"/>
            <a:ext cx="713232" cy="347472"/>
          </a:xfrm>
          <a:prstGeom prst="rect">
            <a:avLst/>
          </a:prstGeom>
          <a:solidFill>
            <a:srgbClr val="1F6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931920" y="3017520"/>
            <a:ext cx="713232" cy="347472"/>
          </a:xfrm>
          <a:prstGeom prst="rect">
            <a:avLst/>
          </a:prstGeom>
          <a:solidFill>
            <a:srgbClr val="1F6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22960" y="3474720"/>
            <a:ext cx="713232" cy="347472"/>
          </a:xfrm>
          <a:prstGeom prst="rect">
            <a:avLst/>
          </a:prstGeom>
          <a:solidFill>
            <a:srgbClr val="1F6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600200" y="3474720"/>
            <a:ext cx="713232" cy="347472"/>
          </a:xfrm>
          <a:prstGeom prst="rect">
            <a:avLst/>
          </a:prstGeom>
          <a:solidFill>
            <a:srgbClr val="1F6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2377440" y="3474720"/>
            <a:ext cx="713232" cy="347472"/>
          </a:xfrm>
          <a:prstGeom prst="rect">
            <a:avLst/>
          </a:prstGeom>
          <a:solidFill>
            <a:srgbClr val="1F6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154679" y="3474720"/>
            <a:ext cx="713232" cy="347472"/>
          </a:xfrm>
          <a:prstGeom prst="rect">
            <a:avLst/>
          </a:prstGeom>
          <a:solidFill>
            <a:srgbClr val="E3A7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931920" y="3474720"/>
            <a:ext cx="713232" cy="347472"/>
          </a:xfrm>
          <a:prstGeom prst="rect">
            <a:avLst/>
          </a:prstGeom>
          <a:solidFill>
            <a:srgbClr val="1F6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22960" y="3931920"/>
            <a:ext cx="713232" cy="347472"/>
          </a:xfrm>
          <a:prstGeom prst="rect">
            <a:avLst/>
          </a:prstGeom>
          <a:solidFill>
            <a:srgbClr val="1F6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600200" y="3931920"/>
            <a:ext cx="713232" cy="347472"/>
          </a:xfrm>
          <a:prstGeom prst="rect">
            <a:avLst/>
          </a:prstGeom>
          <a:solidFill>
            <a:srgbClr val="1F6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377440" y="3931920"/>
            <a:ext cx="713232" cy="347472"/>
          </a:xfrm>
          <a:prstGeom prst="rect">
            <a:avLst/>
          </a:prstGeom>
          <a:solidFill>
            <a:srgbClr val="1F6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154679" y="3931920"/>
            <a:ext cx="713232" cy="347472"/>
          </a:xfrm>
          <a:prstGeom prst="rect">
            <a:avLst/>
          </a:prstGeom>
          <a:solidFill>
            <a:srgbClr val="1F6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3931920" y="3931920"/>
            <a:ext cx="713232" cy="347472"/>
          </a:xfrm>
          <a:prstGeom prst="rect">
            <a:avLst/>
          </a:prstGeom>
          <a:solidFill>
            <a:srgbClr val="E3A7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2960" y="4480560"/>
            <a:ext cx="4937760" cy="1463040"/>
          </a:xfrm>
          <a:prstGeom prst="rect">
            <a:avLst/>
          </a:prstGeom>
          <a:noFill/>
        </p:spPr>
        <p:txBody>
          <a:bodyPr wrap="square" anchor="t" lIns="45720" rIns="45720">
            <a:spAutoFit/>
          </a:bodyPr>
          <a:lstStyle/>
          <a:p>
            <a:pPr algn="l">
              <a:spcAft>
                <a:spcPts val="600"/>
              </a:spcAft>
            </a:pPr>
            <a:r>
              <a:rPr sz="1400" b="0" i="0">
                <a:solidFill>
                  <a:srgbClr val="5B6B6B"/>
                </a:solidFill>
                <a:latin typeface="Calibri"/>
              </a:rPr>
              <a:t>Gold = validation fold, green = training folds. Five rounds on the 491 training rows; the average F1 picks the winner. The test set is only used once, at the end.</a:t>
            </a:r>
          </a:p>
        </p:txBody>
      </p:sp>
      <p:sp>
        <p:nvSpPr>
          <p:cNvPr id="31" name="Oval 30"/>
          <p:cNvSpPr/>
          <p:nvPr/>
        </p:nvSpPr>
        <p:spPr>
          <a:xfrm>
            <a:off x="6309360" y="1417320"/>
            <a:ext cx="502920" cy="502920"/>
          </a:xfrm>
          <a:prstGeom prst="ellipse">
            <a:avLst/>
          </a:prstGeom>
          <a:solidFill>
            <a:srgbClr val="E3A72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0F3D3E"/>
                </a:solidFill>
                <a:latin typeface="Cambria"/>
              </a:rPr>
              <a:t>1</a:t>
            </a:r>
          </a:p>
        </p:txBody>
      </p:sp>
      <p:sp>
        <p:nvSpPr>
          <p:cNvPr id="32" name="TextBox 31"/>
          <p:cNvSpPr txBox="1"/>
          <p:nvPr/>
        </p:nvSpPr>
        <p:spPr>
          <a:xfrm>
            <a:off x="6949440" y="1353312"/>
            <a:ext cx="4572000" cy="365760"/>
          </a:xfrm>
          <a:prstGeom prst="rect">
            <a:avLst/>
          </a:prstGeom>
          <a:noFill/>
        </p:spPr>
        <p:txBody>
          <a:bodyPr wrap="square" anchor="t" lIns="45720" rIns="45720">
            <a:spAutoFit/>
          </a:bodyPr>
          <a:lstStyle/>
          <a:p>
            <a:pPr algn="l">
              <a:spcAft>
                <a:spcPts val="600"/>
              </a:spcAft>
            </a:pPr>
            <a:r>
              <a:rPr sz="1700" b="1" i="0">
                <a:solidFill>
                  <a:srgbClr val="0F3D3E"/>
                </a:solidFill>
                <a:latin typeface="Calibri"/>
              </a:rPr>
              <a:t>Accuracy</a:t>
            </a:r>
          </a:p>
        </p:txBody>
      </p:sp>
      <p:sp>
        <p:nvSpPr>
          <p:cNvPr id="33" name="TextBox 32"/>
          <p:cNvSpPr txBox="1"/>
          <p:nvPr/>
        </p:nvSpPr>
        <p:spPr>
          <a:xfrm>
            <a:off x="6949440" y="1700784"/>
            <a:ext cx="4663440" cy="548640"/>
          </a:xfrm>
          <a:prstGeom prst="rect">
            <a:avLst/>
          </a:prstGeom>
          <a:noFill/>
        </p:spPr>
        <p:txBody>
          <a:bodyPr wrap="square" anchor="t" lIns="45720" rIns="45720">
            <a:spAutoFit/>
          </a:bodyPr>
          <a:lstStyle/>
          <a:p>
            <a:pPr algn="l">
              <a:spcAft>
                <a:spcPts val="600"/>
              </a:spcAft>
            </a:pPr>
            <a:r>
              <a:rPr sz="1400" b="0" i="0">
                <a:solidFill>
                  <a:srgbClr val="5B6B6B"/>
                </a:solidFill>
                <a:latin typeface="Calibri"/>
              </a:rPr>
              <a:t>% of all decisions correct (misleading with a 69/31 imbalance)</a:t>
            </a:r>
          </a:p>
        </p:txBody>
      </p:sp>
      <p:sp>
        <p:nvSpPr>
          <p:cNvPr id="34" name="Oval 33"/>
          <p:cNvSpPr/>
          <p:nvPr/>
        </p:nvSpPr>
        <p:spPr>
          <a:xfrm>
            <a:off x="6309360" y="2359152"/>
            <a:ext cx="502920" cy="502920"/>
          </a:xfrm>
          <a:prstGeom prst="ellipse">
            <a:avLst/>
          </a:prstGeom>
          <a:solidFill>
            <a:srgbClr val="E3A72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0F3D3E"/>
                </a:solidFill>
                <a:latin typeface="Cambria"/>
              </a:rPr>
              <a:t>2</a:t>
            </a:r>
          </a:p>
        </p:txBody>
      </p:sp>
      <p:sp>
        <p:nvSpPr>
          <p:cNvPr id="35" name="TextBox 34"/>
          <p:cNvSpPr txBox="1"/>
          <p:nvPr/>
        </p:nvSpPr>
        <p:spPr>
          <a:xfrm>
            <a:off x="6949440" y="2295144"/>
            <a:ext cx="4572000" cy="365760"/>
          </a:xfrm>
          <a:prstGeom prst="rect">
            <a:avLst/>
          </a:prstGeom>
          <a:noFill/>
        </p:spPr>
        <p:txBody>
          <a:bodyPr wrap="square" anchor="t" lIns="45720" rIns="45720">
            <a:spAutoFit/>
          </a:bodyPr>
          <a:lstStyle/>
          <a:p>
            <a:pPr algn="l">
              <a:spcAft>
                <a:spcPts val="600"/>
              </a:spcAft>
            </a:pPr>
            <a:r>
              <a:rPr sz="1700" b="1" i="0">
                <a:solidFill>
                  <a:srgbClr val="0F3D3E"/>
                </a:solidFill>
                <a:latin typeface="Calibri"/>
              </a:rPr>
              <a:t>Precision</a:t>
            </a:r>
          </a:p>
        </p:txBody>
      </p:sp>
      <p:sp>
        <p:nvSpPr>
          <p:cNvPr id="36" name="TextBox 35"/>
          <p:cNvSpPr txBox="1"/>
          <p:nvPr/>
        </p:nvSpPr>
        <p:spPr>
          <a:xfrm>
            <a:off x="6949440" y="2642616"/>
            <a:ext cx="4663440" cy="548640"/>
          </a:xfrm>
          <a:prstGeom prst="rect">
            <a:avLst/>
          </a:prstGeom>
          <a:noFill/>
        </p:spPr>
        <p:txBody>
          <a:bodyPr wrap="square" anchor="t" lIns="45720" rIns="45720">
            <a:spAutoFit/>
          </a:bodyPr>
          <a:lstStyle/>
          <a:p>
            <a:pPr algn="l">
              <a:spcAft>
                <a:spcPts val="600"/>
              </a:spcAft>
            </a:pPr>
            <a:r>
              <a:rPr sz="1400" b="0" i="0">
                <a:solidFill>
                  <a:srgbClr val="5B6B6B"/>
                </a:solidFill>
                <a:latin typeface="Calibri"/>
              </a:rPr>
              <a:t>Of loans we approved, how many were truly good? Protects the bank</a:t>
            </a:r>
          </a:p>
        </p:txBody>
      </p:sp>
      <p:sp>
        <p:nvSpPr>
          <p:cNvPr id="37" name="Oval 36"/>
          <p:cNvSpPr/>
          <p:nvPr/>
        </p:nvSpPr>
        <p:spPr>
          <a:xfrm>
            <a:off x="6309360" y="3300984"/>
            <a:ext cx="502920" cy="502920"/>
          </a:xfrm>
          <a:prstGeom prst="ellipse">
            <a:avLst/>
          </a:prstGeom>
          <a:solidFill>
            <a:srgbClr val="E3A72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0F3D3E"/>
                </a:solidFill>
                <a:latin typeface="Cambria"/>
              </a:rPr>
              <a:t>3</a:t>
            </a:r>
          </a:p>
        </p:txBody>
      </p:sp>
      <p:sp>
        <p:nvSpPr>
          <p:cNvPr id="38" name="TextBox 37"/>
          <p:cNvSpPr txBox="1"/>
          <p:nvPr/>
        </p:nvSpPr>
        <p:spPr>
          <a:xfrm>
            <a:off x="6949440" y="3236976"/>
            <a:ext cx="4572000" cy="365760"/>
          </a:xfrm>
          <a:prstGeom prst="rect">
            <a:avLst/>
          </a:prstGeom>
          <a:noFill/>
        </p:spPr>
        <p:txBody>
          <a:bodyPr wrap="square" anchor="t" lIns="45720" rIns="45720">
            <a:spAutoFit/>
          </a:bodyPr>
          <a:lstStyle/>
          <a:p>
            <a:pPr algn="l">
              <a:spcAft>
                <a:spcPts val="600"/>
              </a:spcAft>
            </a:pPr>
            <a:r>
              <a:rPr sz="1700" b="1" i="0">
                <a:solidFill>
                  <a:srgbClr val="0F3D3E"/>
                </a:solidFill>
                <a:latin typeface="Calibri"/>
              </a:rPr>
              <a:t>Recall</a:t>
            </a:r>
          </a:p>
        </p:txBody>
      </p:sp>
      <p:sp>
        <p:nvSpPr>
          <p:cNvPr id="39" name="TextBox 38"/>
          <p:cNvSpPr txBox="1"/>
          <p:nvPr/>
        </p:nvSpPr>
        <p:spPr>
          <a:xfrm>
            <a:off x="6949440" y="3584448"/>
            <a:ext cx="4663440" cy="548640"/>
          </a:xfrm>
          <a:prstGeom prst="rect">
            <a:avLst/>
          </a:prstGeom>
          <a:noFill/>
        </p:spPr>
        <p:txBody>
          <a:bodyPr wrap="square" anchor="t" lIns="45720" rIns="45720">
            <a:spAutoFit/>
          </a:bodyPr>
          <a:lstStyle/>
          <a:p>
            <a:pPr algn="l">
              <a:spcAft>
                <a:spcPts val="600"/>
              </a:spcAft>
            </a:pPr>
            <a:r>
              <a:rPr sz="1400" b="0" i="0">
                <a:solidFill>
                  <a:srgbClr val="5B6B6B"/>
                </a:solidFill>
                <a:latin typeface="Calibri"/>
              </a:rPr>
              <a:t>Of truly good loans, how many did we approve? Protects customers</a:t>
            </a:r>
          </a:p>
        </p:txBody>
      </p:sp>
      <p:sp>
        <p:nvSpPr>
          <p:cNvPr id="40" name="Oval 39"/>
          <p:cNvSpPr/>
          <p:nvPr/>
        </p:nvSpPr>
        <p:spPr>
          <a:xfrm>
            <a:off x="6309360" y="4242816"/>
            <a:ext cx="502920" cy="502920"/>
          </a:xfrm>
          <a:prstGeom prst="ellipse">
            <a:avLst/>
          </a:prstGeom>
          <a:solidFill>
            <a:srgbClr val="E3A72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0F3D3E"/>
                </a:solidFill>
                <a:latin typeface="Cambria"/>
              </a:rPr>
              <a:t>4</a:t>
            </a:r>
          </a:p>
        </p:txBody>
      </p:sp>
      <p:sp>
        <p:nvSpPr>
          <p:cNvPr id="41" name="TextBox 40"/>
          <p:cNvSpPr txBox="1"/>
          <p:nvPr/>
        </p:nvSpPr>
        <p:spPr>
          <a:xfrm>
            <a:off x="6949440" y="4178808"/>
            <a:ext cx="4572000" cy="365760"/>
          </a:xfrm>
          <a:prstGeom prst="rect">
            <a:avLst/>
          </a:prstGeom>
          <a:noFill/>
        </p:spPr>
        <p:txBody>
          <a:bodyPr wrap="square" anchor="t" lIns="45720" rIns="45720">
            <a:spAutoFit/>
          </a:bodyPr>
          <a:lstStyle/>
          <a:p>
            <a:pPr algn="l">
              <a:spcAft>
                <a:spcPts val="600"/>
              </a:spcAft>
            </a:pPr>
            <a:r>
              <a:rPr sz="1700" b="1" i="0">
                <a:solidFill>
                  <a:srgbClr val="0F3D3E"/>
                </a:solidFill>
                <a:latin typeface="Calibri"/>
              </a:rPr>
              <a:t>F1-score</a:t>
            </a:r>
          </a:p>
        </p:txBody>
      </p:sp>
      <p:sp>
        <p:nvSpPr>
          <p:cNvPr id="42" name="TextBox 41"/>
          <p:cNvSpPr txBox="1"/>
          <p:nvPr/>
        </p:nvSpPr>
        <p:spPr>
          <a:xfrm>
            <a:off x="6949440" y="4526280"/>
            <a:ext cx="4663440" cy="548640"/>
          </a:xfrm>
          <a:prstGeom prst="rect">
            <a:avLst/>
          </a:prstGeom>
          <a:noFill/>
        </p:spPr>
        <p:txBody>
          <a:bodyPr wrap="square" anchor="t" lIns="45720" rIns="45720">
            <a:spAutoFit/>
          </a:bodyPr>
          <a:lstStyle/>
          <a:p>
            <a:pPr algn="l">
              <a:spcAft>
                <a:spcPts val="600"/>
              </a:spcAft>
            </a:pPr>
            <a:r>
              <a:rPr sz="1400" b="0" i="0">
                <a:solidFill>
                  <a:srgbClr val="5B6B6B"/>
                </a:solidFill>
                <a:latin typeface="Calibri"/>
              </a:rPr>
              <a:t>Balance of precision &amp; recall (our selection metric)</a:t>
            </a:r>
          </a:p>
        </p:txBody>
      </p:sp>
      <p:sp>
        <p:nvSpPr>
          <p:cNvPr id="43" name="Oval 42"/>
          <p:cNvSpPr/>
          <p:nvPr/>
        </p:nvSpPr>
        <p:spPr>
          <a:xfrm>
            <a:off x="6309360" y="5184648"/>
            <a:ext cx="502920" cy="502920"/>
          </a:xfrm>
          <a:prstGeom prst="ellipse">
            <a:avLst/>
          </a:prstGeom>
          <a:solidFill>
            <a:srgbClr val="E3A72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0F3D3E"/>
                </a:solidFill>
                <a:latin typeface="Cambria"/>
              </a:rPr>
              <a:t>5</a:t>
            </a:r>
          </a:p>
        </p:txBody>
      </p:sp>
      <p:sp>
        <p:nvSpPr>
          <p:cNvPr id="44" name="TextBox 43"/>
          <p:cNvSpPr txBox="1"/>
          <p:nvPr/>
        </p:nvSpPr>
        <p:spPr>
          <a:xfrm>
            <a:off x="6949440" y="5120640"/>
            <a:ext cx="4572000" cy="365760"/>
          </a:xfrm>
          <a:prstGeom prst="rect">
            <a:avLst/>
          </a:prstGeom>
          <a:noFill/>
        </p:spPr>
        <p:txBody>
          <a:bodyPr wrap="square" anchor="t" lIns="45720" rIns="45720">
            <a:spAutoFit/>
          </a:bodyPr>
          <a:lstStyle/>
          <a:p>
            <a:pPr algn="l">
              <a:spcAft>
                <a:spcPts val="600"/>
              </a:spcAft>
            </a:pPr>
            <a:r>
              <a:rPr sz="1700" b="1" i="0">
                <a:solidFill>
                  <a:srgbClr val="0F3D3E"/>
                </a:solidFill>
                <a:latin typeface="Calibri"/>
              </a:rPr>
              <a:t>ROC-AUC</a:t>
            </a:r>
          </a:p>
        </p:txBody>
      </p:sp>
      <p:sp>
        <p:nvSpPr>
          <p:cNvPr id="45" name="TextBox 44"/>
          <p:cNvSpPr txBox="1"/>
          <p:nvPr/>
        </p:nvSpPr>
        <p:spPr>
          <a:xfrm>
            <a:off x="6949440" y="5468112"/>
            <a:ext cx="4663440" cy="548640"/>
          </a:xfrm>
          <a:prstGeom prst="rect">
            <a:avLst/>
          </a:prstGeom>
          <a:noFill/>
        </p:spPr>
        <p:txBody>
          <a:bodyPr wrap="square" anchor="t" lIns="45720" rIns="45720">
            <a:spAutoFit/>
          </a:bodyPr>
          <a:lstStyle/>
          <a:p>
            <a:pPr algn="l">
              <a:spcAft>
                <a:spcPts val="600"/>
              </a:spcAft>
            </a:pPr>
            <a:r>
              <a:rPr sz="1400" b="0" i="0">
                <a:solidFill>
                  <a:srgbClr val="5B6B6B"/>
                </a:solidFill>
                <a:latin typeface="Calibri"/>
              </a:rPr>
              <a:t>How well applicants are ranked (0.5 = coin flip, 1 = perfect)</a:t>
            </a:r>
          </a:p>
        </p:txBody>
      </p:sp>
      <p:sp>
        <p:nvSpPr>
          <p:cNvPr id="46" name="TextBox 45"/>
          <p:cNvSpPr txBox="1"/>
          <p:nvPr/>
        </p:nvSpPr>
        <p:spPr>
          <a:xfrm>
            <a:off x="10881360" y="6400800"/>
            <a:ext cx="822960" cy="274320"/>
          </a:xfrm>
          <a:prstGeom prst="rect">
            <a:avLst/>
          </a:prstGeom>
          <a:noFill/>
        </p:spPr>
        <p:txBody>
          <a:bodyPr wrap="square" anchor="t" lIns="45720" rIns="45720">
            <a:spAutoFit/>
          </a:bodyPr>
          <a:lstStyle/>
          <a:p>
            <a:pPr algn="r">
              <a:spcAft>
                <a:spcPts val="600"/>
              </a:spcAft>
            </a:pPr>
            <a:r>
              <a:rPr sz="1000" b="0" i="0">
                <a:solidFill>
                  <a:srgbClr val="5B6B6B"/>
                </a:solidFill>
                <a:latin typeface="Calibri"/>
              </a:rPr>
              <a:t>9 / 14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64240" cy="777240"/>
          </a:xfrm>
          <a:prstGeom prst="rect">
            <a:avLst/>
          </a:prstGeom>
          <a:noFill/>
        </p:spPr>
        <p:txBody>
          <a:bodyPr wrap="square" anchor="ctr" lIns="45720" rIns="45720">
            <a:spAutoFit/>
          </a:bodyPr>
          <a:lstStyle/>
          <a:p>
            <a:pPr algn="l">
              <a:spcAft>
                <a:spcPts val="600"/>
              </a:spcAft>
            </a:pPr>
            <a:r>
              <a:rPr sz="3400" b="1" i="0">
                <a:solidFill>
                  <a:srgbClr val="0F3D3E"/>
                </a:solidFill>
                <a:latin typeface="Cambria"/>
              </a:rPr>
              <a:t>Results on the unseen test set</a:t>
            </a:r>
          </a:p>
        </p:txBody>
      </p:sp>
      <p:graphicFrame>
        <p:nvGraphicFramePr>
          <p:cNvPr id="3" name="Chart 2"/>
          <p:cNvGraphicFramePr>
            <a:graphicFrameLocks noGrp="1"/>
          </p:cNvGraphicFramePr>
          <p:nvPr/>
        </p:nvGraphicFramePr>
        <p:xfrm>
          <a:off x="457200" y="1234440"/>
          <a:ext cx="7040880" cy="5029200"/>
        </p:xfrm>
        <a:graphic>
          <a:graphicData uri="http://schemas.openxmlformats.org/drawingml/2006/chart">
            <c:chart xmlns:c="http://schemas.openxmlformats.org/drawingml/2006/chart" r:id="rId2"/>
          </a:graphicData>
        </a:graphic>
      </p:graphicFrame>
      <p:sp>
        <p:nvSpPr>
          <p:cNvPr id="4" name="Rounded Rectangle 3"/>
          <p:cNvSpPr/>
          <p:nvPr/>
        </p:nvSpPr>
        <p:spPr>
          <a:xfrm>
            <a:off x="7863840" y="1325880"/>
            <a:ext cx="3749039" cy="2103120"/>
          </a:xfrm>
          <a:prstGeom prst="roundRect">
            <a:avLst>
              <a:gd name="adj" fmla="val 8000"/>
            </a:avLst>
          </a:prstGeom>
          <a:solidFill>
            <a:srgbClr val="0F3D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138160" y="1417320"/>
            <a:ext cx="3291840" cy="914400"/>
          </a:xfrm>
          <a:prstGeom prst="rect">
            <a:avLst/>
          </a:prstGeom>
          <a:noFill/>
        </p:spPr>
        <p:txBody>
          <a:bodyPr wrap="square" anchor="t" lIns="45720" rIns="45720">
            <a:spAutoFit/>
          </a:bodyPr>
          <a:lstStyle/>
          <a:p>
            <a:pPr algn="l">
              <a:spcAft>
                <a:spcPts val="600"/>
              </a:spcAft>
            </a:pPr>
            <a:r>
              <a:rPr sz="4400" b="1" i="0">
                <a:solidFill>
                  <a:srgbClr val="E3A72F"/>
                </a:solidFill>
                <a:latin typeface="Cambria"/>
              </a:rPr>
              <a:t>87.8%</a:t>
            </a:r>
          </a:p>
        </p:txBody>
      </p:sp>
      <p:sp>
        <p:nvSpPr>
          <p:cNvPr id="6" name="TextBox 5"/>
          <p:cNvSpPr txBox="1"/>
          <p:nvPr/>
        </p:nvSpPr>
        <p:spPr>
          <a:xfrm>
            <a:off x="8138160" y="2331720"/>
            <a:ext cx="3291840" cy="1005840"/>
          </a:xfrm>
          <a:prstGeom prst="rect">
            <a:avLst/>
          </a:prstGeom>
          <a:noFill/>
        </p:spPr>
        <p:txBody>
          <a:bodyPr wrap="square" anchor="t" lIns="45720" rIns="45720">
            <a:spAutoFit/>
          </a:bodyPr>
          <a:lstStyle/>
          <a:p>
            <a:pPr algn="l">
              <a:spcAft>
                <a:spcPts val="600"/>
              </a:spcAft>
            </a:pPr>
            <a:r>
              <a:rPr sz="1400" b="0" i="0">
                <a:solidFill>
                  <a:srgbClr val="FFFFFF"/>
                </a:solidFill>
                <a:latin typeface="Calibri"/>
              </a:rPr>
              <a:t>test accuracy of the Random Forest (F1 0.918, CV F1 0.867 ± 0.028)</a:t>
            </a:r>
          </a:p>
        </p:txBody>
      </p:sp>
      <p:sp>
        <p:nvSpPr>
          <p:cNvPr id="7" name="TextBox 6"/>
          <p:cNvSpPr txBox="1"/>
          <p:nvPr/>
        </p:nvSpPr>
        <p:spPr>
          <a:xfrm>
            <a:off x="7863840" y="3703320"/>
            <a:ext cx="3749039" cy="2651760"/>
          </a:xfrm>
          <a:prstGeom prst="rect">
            <a:avLst/>
          </a:prstGeom>
          <a:noFill/>
        </p:spPr>
        <p:txBody>
          <a:bodyPr wrap="square">
            <a:spAutoFit/>
          </a:bodyPr>
          <a:lstStyle/>
          <a:p>
            <a:pPr marL="256032" indent="-228600">
              <a:spcAft>
                <a:spcPts val="800"/>
              </a:spcAft>
              <a:buChar char="•"/>
            </a:pPr>
            <a:r>
              <a:rPr sz="1500" b="0">
                <a:solidFill>
                  <a:srgbClr val="1E2B2B"/>
                </a:solidFill>
                <a:latin typeface="Calibri"/>
              </a:rPr>
              <a:t>Random Forest is best on CV F1, test accuracy and test F1.</a:t>
            </a:r>
          </a:p>
          <a:p>
            <a:pPr marL="256032" indent="-228600">
              <a:spcAft>
                <a:spcPts val="800"/>
              </a:spcAft>
              <a:buChar char="•"/>
            </a:pPr>
            <a:r>
              <a:rPr sz="1500" b="1">
                <a:solidFill>
                  <a:srgbClr val="1E2B2B"/>
                </a:solidFill>
                <a:latin typeface="Calibri"/>
              </a:rPr>
              <a:t>The gap is small: </a:t>
            </a:r>
            <a:r>
              <a:rPr sz="1500" b="0">
                <a:solidFill>
                  <a:srgbClr val="1E2B2B"/>
                </a:solidFill>
                <a:latin typeface="Calibri"/>
              </a:rPr>
              <a:t>all three CV F1 scores are within one standard deviation.</a:t>
            </a:r>
          </a:p>
          <a:p>
            <a:pPr marL="256032" indent="-228600">
              <a:spcAft>
                <a:spcPts val="800"/>
              </a:spcAft>
              <a:buChar char="•"/>
            </a:pPr>
            <a:r>
              <a:rPr sz="1500" b="1">
                <a:solidFill>
                  <a:srgbClr val="1E2B2B"/>
                </a:solidFill>
                <a:latin typeface="Calibri"/>
              </a:rPr>
              <a:t>No overfitting: </a:t>
            </a:r>
            <a:r>
              <a:rPr sz="1500" b="0">
                <a:solidFill>
                  <a:srgbClr val="1E2B2B"/>
                </a:solidFill>
                <a:latin typeface="Calibri"/>
              </a:rPr>
              <a:t>test accuracy ≥ train accuracy for every model.</a:t>
            </a:r>
          </a:p>
        </p:txBody>
      </p:sp>
      <p:sp>
        <p:nvSpPr>
          <p:cNvPr id="8" name="TextBox 7"/>
          <p:cNvSpPr txBox="1"/>
          <p:nvPr/>
        </p:nvSpPr>
        <p:spPr>
          <a:xfrm>
            <a:off x="10881360" y="6400800"/>
            <a:ext cx="822960" cy="274320"/>
          </a:xfrm>
          <a:prstGeom prst="rect">
            <a:avLst/>
          </a:prstGeom>
          <a:noFill/>
        </p:spPr>
        <p:txBody>
          <a:bodyPr wrap="square" anchor="t" lIns="45720" rIns="45720">
            <a:spAutoFit/>
          </a:bodyPr>
          <a:lstStyle/>
          <a:p>
            <a:pPr algn="r">
              <a:spcAft>
                <a:spcPts val="600"/>
              </a:spcAft>
            </a:pPr>
            <a:r>
              <a:rPr sz="1000" b="0" i="0">
                <a:solidFill>
                  <a:srgbClr val="5B6B6B"/>
                </a:solidFill>
                <a:latin typeface="Calibri"/>
              </a:rPr>
              <a:t>10 / 14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64240" cy="777240"/>
          </a:xfrm>
          <a:prstGeom prst="rect">
            <a:avLst/>
          </a:prstGeom>
          <a:noFill/>
        </p:spPr>
        <p:txBody>
          <a:bodyPr wrap="square" anchor="ctr" lIns="45720" rIns="45720">
            <a:spAutoFit/>
          </a:bodyPr>
          <a:lstStyle/>
          <a:p>
            <a:pPr algn="l">
              <a:spcAft>
                <a:spcPts val="600"/>
              </a:spcAft>
            </a:pPr>
            <a:r>
              <a:rPr sz="3400" b="1" i="0">
                <a:solidFill>
                  <a:srgbClr val="0F3D3E"/>
                </a:solidFill>
                <a:latin typeface="Cambria"/>
              </a:rPr>
              <a:t>Where the models make mistakes</a:t>
            </a:r>
          </a:p>
        </p:txBody>
      </p:sp>
      <p:pic>
        <p:nvPicPr>
          <p:cNvPr id="3" name="Picture 2" descr="04_confusion_matrices.png"/>
          <p:cNvPicPr>
            <a:picLocks noChangeAspect="1"/>
          </p:cNvPicPr>
          <p:nvPr/>
        </p:nvPicPr>
        <p:blipFill>
          <a:blip r:embed="rId2"/>
          <a:stretch>
            <a:fillRect/>
          </a:stretch>
        </p:blipFill>
        <p:spPr>
          <a:xfrm>
            <a:off x="548640" y="1280160"/>
            <a:ext cx="11064240" cy="3503676"/>
          </a:xfrm>
          <a:prstGeom prst="rect">
            <a:avLst/>
          </a:prstGeom>
        </p:spPr>
      </p:pic>
      <p:sp>
        <p:nvSpPr>
          <p:cNvPr id="4" name="TextBox 3"/>
          <p:cNvSpPr txBox="1"/>
          <p:nvPr/>
        </p:nvSpPr>
        <p:spPr>
          <a:xfrm>
            <a:off x="548640" y="5029200"/>
            <a:ext cx="11064240" cy="1280160"/>
          </a:xfrm>
          <a:prstGeom prst="rect">
            <a:avLst/>
          </a:prstGeom>
          <a:noFill/>
        </p:spPr>
        <p:txBody>
          <a:bodyPr wrap="square">
            <a:spAutoFit/>
          </a:bodyPr>
          <a:lstStyle/>
          <a:p>
            <a:pPr marL="256032" indent="-228600">
              <a:spcAft>
                <a:spcPts val="800"/>
              </a:spcAft>
              <a:buChar char="•"/>
            </a:pPr>
            <a:r>
              <a:rPr sz="1600" b="1">
                <a:solidFill>
                  <a:srgbClr val="1E2B2B"/>
                </a:solidFill>
                <a:latin typeface="Calibri"/>
              </a:rPr>
              <a:t>Random Forest: </a:t>
            </a:r>
            <a:r>
              <a:rPr sz="1600" b="0">
                <a:solidFill>
                  <a:srgbClr val="1E2B2B"/>
                </a:solidFill>
                <a:latin typeface="Calibri"/>
              </a:rPr>
              <a:t>84 of 85 good loans approved (only 1 missed), 24 of 38 risky loans rejected.</a:t>
            </a:r>
          </a:p>
          <a:p>
            <a:pPr marL="256032" indent="-228600">
              <a:spcAft>
                <a:spcPts val="800"/>
              </a:spcAft>
              <a:buChar char="•"/>
            </a:pPr>
            <a:r>
              <a:rPr sz="1600" b="1">
                <a:solidFill>
                  <a:srgbClr val="1E2B2B"/>
                </a:solidFill>
                <a:latin typeface="Calibri"/>
              </a:rPr>
              <a:t>Weak spot: </a:t>
            </a:r>
            <a:r>
              <a:rPr sz="1600" b="0">
                <a:solidFill>
                  <a:srgbClr val="1E2B2B"/>
                </a:solidFill>
                <a:latin typeface="Calibri"/>
              </a:rPr>
              <a:t>about 1 in 3 risky applicants is still approved (14 false positives). The models are lenient, because the data has twice as many approvals.</a:t>
            </a:r>
          </a:p>
        </p:txBody>
      </p:sp>
      <p:sp>
        <p:nvSpPr>
          <p:cNvPr id="5" name="TextBox 4"/>
          <p:cNvSpPr txBox="1"/>
          <p:nvPr/>
        </p:nvSpPr>
        <p:spPr>
          <a:xfrm>
            <a:off x="10881360" y="6400800"/>
            <a:ext cx="822960" cy="274320"/>
          </a:xfrm>
          <a:prstGeom prst="rect">
            <a:avLst/>
          </a:prstGeom>
          <a:noFill/>
        </p:spPr>
        <p:txBody>
          <a:bodyPr wrap="square" anchor="t" lIns="45720" rIns="45720">
            <a:spAutoFit/>
          </a:bodyPr>
          <a:lstStyle/>
          <a:p>
            <a:pPr algn="r">
              <a:spcAft>
                <a:spcPts val="600"/>
              </a:spcAft>
            </a:pPr>
            <a:r>
              <a:rPr sz="1000" b="0" i="0">
                <a:solidFill>
                  <a:srgbClr val="5B6B6B"/>
                </a:solidFill>
                <a:latin typeface="Calibri"/>
              </a:rPr>
              <a:t>11 / 14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64240" cy="777240"/>
          </a:xfrm>
          <a:prstGeom prst="rect">
            <a:avLst/>
          </a:prstGeom>
          <a:noFill/>
        </p:spPr>
        <p:txBody>
          <a:bodyPr wrap="square" anchor="ctr" lIns="45720" rIns="45720">
            <a:spAutoFit/>
          </a:bodyPr>
          <a:lstStyle/>
          <a:p>
            <a:pPr algn="l">
              <a:spcAft>
                <a:spcPts val="600"/>
              </a:spcAft>
            </a:pPr>
            <a:r>
              <a:rPr sz="3400" b="1" i="0">
                <a:solidFill>
                  <a:srgbClr val="0F3D3E"/>
                </a:solidFill>
                <a:latin typeface="Cambria"/>
              </a:rPr>
              <a:t>Which features really matter?</a:t>
            </a:r>
          </a:p>
        </p:txBody>
      </p:sp>
      <p:pic>
        <p:nvPicPr>
          <p:cNvPr id="3" name="Picture 2" descr="06_feature_importance.png"/>
          <p:cNvPicPr>
            <a:picLocks noChangeAspect="1"/>
          </p:cNvPicPr>
          <p:nvPr/>
        </p:nvPicPr>
        <p:blipFill>
          <a:blip r:embed="rId2"/>
          <a:stretch>
            <a:fillRect/>
          </a:stretch>
        </p:blipFill>
        <p:spPr>
          <a:xfrm>
            <a:off x="457200" y="1234440"/>
            <a:ext cx="6766560" cy="4059936"/>
          </a:xfrm>
          <a:prstGeom prst="rect">
            <a:avLst/>
          </a:prstGeom>
        </p:spPr>
      </p:pic>
      <p:sp>
        <p:nvSpPr>
          <p:cNvPr id="4" name="Rounded Rectangle 3"/>
          <p:cNvSpPr/>
          <p:nvPr/>
        </p:nvSpPr>
        <p:spPr>
          <a:xfrm>
            <a:off x="7589520" y="1325880"/>
            <a:ext cx="4023360" cy="4846320"/>
          </a:xfrm>
          <a:prstGeom prst="roundRect">
            <a:avLst>
              <a:gd name="adj" fmla="val 8000"/>
            </a:avLst>
          </a:prstGeom>
          <a:solidFill>
            <a:srgbClr val="EAF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63840" y="1463040"/>
            <a:ext cx="3566160" cy="457200"/>
          </a:xfrm>
          <a:prstGeom prst="rect">
            <a:avLst/>
          </a:prstGeom>
          <a:noFill/>
        </p:spPr>
        <p:txBody>
          <a:bodyPr wrap="square" anchor="t" lIns="45720" rIns="45720">
            <a:spAutoFit/>
          </a:bodyPr>
          <a:lstStyle/>
          <a:p>
            <a:pPr algn="l">
              <a:spcAft>
                <a:spcPts val="600"/>
              </a:spcAft>
            </a:pPr>
            <a:r>
              <a:rPr sz="1800" b="1" i="0">
                <a:solidFill>
                  <a:srgbClr val="0F3D3E"/>
                </a:solidFill>
                <a:latin typeface="Calibri"/>
              </a:rPr>
              <a:t>Permutation importance</a:t>
            </a:r>
          </a:p>
        </p:txBody>
      </p:sp>
      <p:sp>
        <p:nvSpPr>
          <p:cNvPr id="6" name="TextBox 5"/>
          <p:cNvSpPr txBox="1"/>
          <p:nvPr/>
        </p:nvSpPr>
        <p:spPr>
          <a:xfrm>
            <a:off x="7863840" y="1920240"/>
            <a:ext cx="3566160" cy="914400"/>
          </a:xfrm>
          <a:prstGeom prst="rect">
            <a:avLst/>
          </a:prstGeom>
          <a:noFill/>
        </p:spPr>
        <p:txBody>
          <a:bodyPr wrap="square" anchor="t" lIns="45720" rIns="45720">
            <a:spAutoFit/>
          </a:bodyPr>
          <a:lstStyle/>
          <a:p>
            <a:pPr algn="l">
              <a:spcAft>
                <a:spcPts val="600"/>
              </a:spcAft>
            </a:pPr>
            <a:r>
              <a:rPr sz="1400" b="0" i="0">
                <a:solidFill>
                  <a:srgbClr val="5B6B6B"/>
                </a:solidFill>
                <a:latin typeface="Calibri"/>
              </a:rPr>
              <a:t>Shuffle one column and see how much ROC-AUC drops. A big drop means the model relies on it.</a:t>
            </a:r>
          </a:p>
        </p:txBody>
      </p:sp>
      <p:sp>
        <p:nvSpPr>
          <p:cNvPr id="7" name="TextBox 6"/>
          <p:cNvSpPr txBox="1"/>
          <p:nvPr/>
        </p:nvSpPr>
        <p:spPr>
          <a:xfrm>
            <a:off x="7863840" y="2926080"/>
            <a:ext cx="3566160" cy="3200400"/>
          </a:xfrm>
          <a:prstGeom prst="rect">
            <a:avLst/>
          </a:prstGeom>
          <a:noFill/>
        </p:spPr>
        <p:txBody>
          <a:bodyPr wrap="square">
            <a:spAutoFit/>
          </a:bodyPr>
          <a:lstStyle/>
          <a:p>
            <a:pPr marL="256032" indent="-228600">
              <a:spcAft>
                <a:spcPts val="800"/>
              </a:spcAft>
              <a:buChar char="•"/>
            </a:pPr>
            <a:r>
              <a:rPr sz="1500" b="1">
                <a:solidFill>
                  <a:srgbClr val="1E2B2B"/>
                </a:solidFill>
                <a:latin typeface="Calibri"/>
              </a:rPr>
              <a:t>Credit history: </a:t>
            </a:r>
            <a:r>
              <a:rPr sz="1500" b="0">
                <a:solidFill>
                  <a:srgbClr val="1E2B2B"/>
                </a:solidFill>
                <a:latin typeface="Calibri"/>
              </a:rPr>
              <a:t>by far #1 (−0.29 AUC).</a:t>
            </a:r>
          </a:p>
          <a:p>
            <a:pPr marL="256032" indent="-228600">
              <a:spcAft>
                <a:spcPts val="800"/>
              </a:spcAft>
              <a:buChar char="•"/>
            </a:pPr>
            <a:r>
              <a:rPr sz="1500" b="1">
                <a:solidFill>
                  <a:srgbClr val="1E2B2B"/>
                </a:solidFill>
                <a:latin typeface="Calibri"/>
              </a:rPr>
              <a:t>Affordability next: </a:t>
            </a:r>
            <a:r>
              <a:rPr sz="1500" b="0">
                <a:solidFill>
                  <a:srgbClr val="1E2B2B"/>
                </a:solidFill>
                <a:latin typeface="Calibri"/>
              </a:rPr>
              <a:t>co-applicant income, applicant income, loan amount.</a:t>
            </a:r>
          </a:p>
          <a:p>
            <a:pPr marL="256032" indent="-228600">
              <a:spcAft>
                <a:spcPts val="800"/>
              </a:spcAft>
              <a:buChar char="•"/>
            </a:pPr>
            <a:r>
              <a:rPr sz="1500" b="0">
                <a:solidFill>
                  <a:srgbClr val="1E2B2B"/>
                </a:solidFill>
                <a:latin typeface="Calibri"/>
              </a:rPr>
              <a:t>Gender, education, marital status, dependents: ≈ 0.</a:t>
            </a:r>
          </a:p>
          <a:p>
            <a:pPr marL="256032" indent="-228600">
              <a:spcAft>
                <a:spcPts val="800"/>
              </a:spcAft>
              <a:buChar char="•"/>
            </a:pPr>
            <a:r>
              <a:rPr sz="1500" b="0">
                <a:solidFill>
                  <a:srgbClr val="1E2B2B"/>
                </a:solidFill>
                <a:latin typeface="Calibri"/>
              </a:rPr>
              <a:t>The model decides on credit + affordability, not demographics.</a:t>
            </a:r>
          </a:p>
        </p:txBody>
      </p:sp>
      <p:sp>
        <p:nvSpPr>
          <p:cNvPr id="8" name="TextBox 7"/>
          <p:cNvSpPr txBox="1"/>
          <p:nvPr/>
        </p:nvSpPr>
        <p:spPr>
          <a:xfrm>
            <a:off x="10881360" y="6400800"/>
            <a:ext cx="822960" cy="274320"/>
          </a:xfrm>
          <a:prstGeom prst="rect">
            <a:avLst/>
          </a:prstGeom>
          <a:noFill/>
        </p:spPr>
        <p:txBody>
          <a:bodyPr wrap="square" anchor="t" lIns="45720" rIns="45720">
            <a:spAutoFit/>
          </a:bodyPr>
          <a:lstStyle/>
          <a:p>
            <a:pPr algn="r">
              <a:spcAft>
                <a:spcPts val="600"/>
              </a:spcAft>
            </a:pPr>
            <a:r>
              <a:rPr sz="1000" b="0" i="0">
                <a:solidFill>
                  <a:srgbClr val="5B6B6B"/>
                </a:solidFill>
                <a:latin typeface="Calibri"/>
              </a:rPr>
              <a:t>12 / 14</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64240" cy="777240"/>
          </a:xfrm>
          <a:prstGeom prst="rect">
            <a:avLst/>
          </a:prstGeom>
          <a:noFill/>
        </p:spPr>
        <p:txBody>
          <a:bodyPr wrap="square" anchor="ctr" lIns="45720" rIns="45720">
            <a:spAutoFit/>
          </a:bodyPr>
          <a:lstStyle/>
          <a:p>
            <a:pPr algn="l">
              <a:spcAft>
                <a:spcPts val="600"/>
              </a:spcAft>
            </a:pPr>
            <a:r>
              <a:rPr sz="3400" b="1" i="0">
                <a:solidFill>
                  <a:srgbClr val="0F3D3E"/>
                </a:solidFill>
                <a:latin typeface="Cambria"/>
              </a:rPr>
              <a:t>Live demo: Streamlit web app</a:t>
            </a:r>
          </a:p>
        </p:txBody>
      </p:sp>
      <p:sp>
        <p:nvSpPr>
          <p:cNvPr id="3" name="Oval 2"/>
          <p:cNvSpPr/>
          <p:nvPr/>
        </p:nvSpPr>
        <p:spPr>
          <a:xfrm>
            <a:off x="548640" y="1371600"/>
            <a:ext cx="594360" cy="594360"/>
          </a:xfrm>
          <a:prstGeom prst="ellipse">
            <a:avLst/>
          </a:prstGeom>
          <a:solidFill>
            <a:srgbClr val="E3A72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0F3D3E"/>
                </a:solidFill>
                <a:latin typeface="Cambria"/>
              </a:rPr>
              <a:t>1</a:t>
            </a:r>
          </a:p>
        </p:txBody>
      </p:sp>
      <p:sp>
        <p:nvSpPr>
          <p:cNvPr id="4" name="TextBox 3"/>
          <p:cNvSpPr txBox="1"/>
          <p:nvPr/>
        </p:nvSpPr>
        <p:spPr>
          <a:xfrm>
            <a:off x="1371600" y="1325880"/>
            <a:ext cx="4572000" cy="411480"/>
          </a:xfrm>
          <a:prstGeom prst="rect">
            <a:avLst/>
          </a:prstGeom>
          <a:noFill/>
        </p:spPr>
        <p:txBody>
          <a:bodyPr wrap="square" anchor="t" lIns="45720" rIns="45720">
            <a:spAutoFit/>
          </a:bodyPr>
          <a:lstStyle/>
          <a:p>
            <a:pPr algn="l">
              <a:spcAft>
                <a:spcPts val="600"/>
              </a:spcAft>
            </a:pPr>
            <a:r>
              <a:rPr sz="1900" b="1" i="0">
                <a:solidFill>
                  <a:srgbClr val="0F3D3E"/>
                </a:solidFill>
                <a:latin typeface="Calibri"/>
              </a:rPr>
              <a:t>Enter details</a:t>
            </a:r>
          </a:p>
        </p:txBody>
      </p:sp>
      <p:sp>
        <p:nvSpPr>
          <p:cNvPr id="5" name="TextBox 4"/>
          <p:cNvSpPr txBox="1"/>
          <p:nvPr/>
        </p:nvSpPr>
        <p:spPr>
          <a:xfrm>
            <a:off x="1371600" y="1755648"/>
            <a:ext cx="4572000" cy="731520"/>
          </a:xfrm>
          <a:prstGeom prst="rect">
            <a:avLst/>
          </a:prstGeom>
          <a:noFill/>
        </p:spPr>
        <p:txBody>
          <a:bodyPr wrap="square" anchor="t" lIns="45720" rIns="45720">
            <a:spAutoFit/>
          </a:bodyPr>
          <a:lstStyle/>
          <a:p>
            <a:pPr algn="l">
              <a:spcAft>
                <a:spcPts val="600"/>
              </a:spcAft>
            </a:pPr>
            <a:r>
              <a:rPr sz="1500" b="0" i="0">
                <a:solidFill>
                  <a:srgbClr val="5B6B6B"/>
                </a:solidFill>
                <a:latin typeface="Calibri"/>
              </a:rPr>
              <a:t>A form with the 11 inputs a bank officer would fill in</a:t>
            </a:r>
          </a:p>
        </p:txBody>
      </p:sp>
      <p:sp>
        <p:nvSpPr>
          <p:cNvPr id="6" name="Oval 5"/>
          <p:cNvSpPr/>
          <p:nvPr/>
        </p:nvSpPr>
        <p:spPr>
          <a:xfrm>
            <a:off x="548640" y="2697480"/>
            <a:ext cx="594360" cy="594360"/>
          </a:xfrm>
          <a:prstGeom prst="ellipse">
            <a:avLst/>
          </a:prstGeom>
          <a:solidFill>
            <a:srgbClr val="E3A72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0F3D3E"/>
                </a:solidFill>
                <a:latin typeface="Cambria"/>
              </a:rPr>
              <a:t>2</a:t>
            </a:r>
          </a:p>
        </p:txBody>
      </p:sp>
      <p:sp>
        <p:nvSpPr>
          <p:cNvPr id="7" name="TextBox 6"/>
          <p:cNvSpPr txBox="1"/>
          <p:nvPr/>
        </p:nvSpPr>
        <p:spPr>
          <a:xfrm>
            <a:off x="1371600" y="2651760"/>
            <a:ext cx="4572000" cy="411480"/>
          </a:xfrm>
          <a:prstGeom prst="rect">
            <a:avLst/>
          </a:prstGeom>
          <a:noFill/>
        </p:spPr>
        <p:txBody>
          <a:bodyPr wrap="square" anchor="t" lIns="45720" rIns="45720">
            <a:spAutoFit/>
          </a:bodyPr>
          <a:lstStyle/>
          <a:p>
            <a:pPr algn="l">
              <a:spcAft>
                <a:spcPts val="600"/>
              </a:spcAft>
            </a:pPr>
            <a:r>
              <a:rPr sz="1900" b="1" i="0">
                <a:solidFill>
                  <a:srgbClr val="0F3D3E"/>
                </a:solidFill>
                <a:latin typeface="Calibri"/>
              </a:rPr>
              <a:t>3 models predict</a:t>
            </a:r>
          </a:p>
        </p:txBody>
      </p:sp>
      <p:sp>
        <p:nvSpPr>
          <p:cNvPr id="8" name="TextBox 7"/>
          <p:cNvSpPr txBox="1"/>
          <p:nvPr/>
        </p:nvSpPr>
        <p:spPr>
          <a:xfrm>
            <a:off x="1371600" y="3081528"/>
            <a:ext cx="4572000" cy="731520"/>
          </a:xfrm>
          <a:prstGeom prst="rect">
            <a:avLst/>
          </a:prstGeom>
          <a:noFill/>
        </p:spPr>
        <p:txBody>
          <a:bodyPr wrap="square" anchor="t" lIns="45720" rIns="45720">
            <a:spAutoFit/>
          </a:bodyPr>
          <a:lstStyle/>
          <a:p>
            <a:pPr algn="l">
              <a:spcAft>
                <a:spcPts val="600"/>
              </a:spcAft>
            </a:pPr>
            <a:r>
              <a:rPr sz="1500" b="0" i="0">
                <a:solidFill>
                  <a:srgbClr val="5B6B6B"/>
                </a:solidFill>
                <a:latin typeface="Calibri"/>
              </a:rPr>
              <a:t>Approved / Rejected with a confidence %; best model starred</a:t>
            </a:r>
          </a:p>
        </p:txBody>
      </p:sp>
      <p:sp>
        <p:nvSpPr>
          <p:cNvPr id="9" name="Oval 8"/>
          <p:cNvSpPr/>
          <p:nvPr/>
        </p:nvSpPr>
        <p:spPr>
          <a:xfrm>
            <a:off x="548640" y="4023360"/>
            <a:ext cx="594360" cy="594360"/>
          </a:xfrm>
          <a:prstGeom prst="ellipse">
            <a:avLst/>
          </a:prstGeom>
          <a:solidFill>
            <a:srgbClr val="E3A72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0F3D3E"/>
                </a:solidFill>
                <a:latin typeface="Cambria"/>
              </a:rPr>
              <a:t>3</a:t>
            </a:r>
          </a:p>
        </p:txBody>
      </p:sp>
      <p:sp>
        <p:nvSpPr>
          <p:cNvPr id="10" name="TextBox 9"/>
          <p:cNvSpPr txBox="1"/>
          <p:nvPr/>
        </p:nvSpPr>
        <p:spPr>
          <a:xfrm>
            <a:off x="1371600" y="3977640"/>
            <a:ext cx="4572000" cy="411480"/>
          </a:xfrm>
          <a:prstGeom prst="rect">
            <a:avLst/>
          </a:prstGeom>
          <a:noFill/>
        </p:spPr>
        <p:txBody>
          <a:bodyPr wrap="square" anchor="t" lIns="45720" rIns="45720">
            <a:spAutoFit/>
          </a:bodyPr>
          <a:lstStyle/>
          <a:p>
            <a:pPr algn="l">
              <a:spcAft>
                <a:spcPts val="600"/>
              </a:spcAft>
            </a:pPr>
            <a:r>
              <a:rPr sz="1900" b="1" i="0">
                <a:solidFill>
                  <a:srgbClr val="0F3D3E"/>
                </a:solidFill>
                <a:latin typeface="Calibri"/>
              </a:rPr>
              <a:t>See affordability</a:t>
            </a:r>
          </a:p>
        </p:txBody>
      </p:sp>
      <p:sp>
        <p:nvSpPr>
          <p:cNvPr id="11" name="TextBox 10"/>
          <p:cNvSpPr txBox="1"/>
          <p:nvPr/>
        </p:nvSpPr>
        <p:spPr>
          <a:xfrm>
            <a:off x="1371600" y="4407408"/>
            <a:ext cx="4572000" cy="731520"/>
          </a:xfrm>
          <a:prstGeom prst="rect">
            <a:avLst/>
          </a:prstGeom>
          <a:noFill/>
        </p:spPr>
        <p:txBody>
          <a:bodyPr wrap="square" anchor="t" lIns="45720" rIns="45720">
            <a:spAutoFit/>
          </a:bodyPr>
          <a:lstStyle/>
          <a:p>
            <a:pPr algn="l">
              <a:spcAft>
                <a:spcPts val="600"/>
              </a:spcAft>
            </a:pPr>
            <a:r>
              <a:rPr sz="1500" b="0" i="0">
                <a:solidFill>
                  <a:srgbClr val="5B6B6B"/>
                </a:solidFill>
                <a:latin typeface="Calibri"/>
              </a:rPr>
              <a:t>Shows the EMI, income left after EMI and loan-to-income ratio</a:t>
            </a:r>
          </a:p>
        </p:txBody>
      </p:sp>
      <p:sp>
        <p:nvSpPr>
          <p:cNvPr id="12" name="Rounded Rectangle 11"/>
          <p:cNvSpPr/>
          <p:nvPr/>
        </p:nvSpPr>
        <p:spPr>
          <a:xfrm>
            <a:off x="6400800" y="1325880"/>
            <a:ext cx="5212080" cy="3017520"/>
          </a:xfrm>
          <a:prstGeom prst="roundRect">
            <a:avLst>
              <a:gd name="adj" fmla="val 8000"/>
            </a:avLst>
          </a:prstGeom>
          <a:solidFill>
            <a:srgbClr val="0F3D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720840" y="1554480"/>
            <a:ext cx="4663440" cy="2651760"/>
          </a:xfrm>
          <a:prstGeom prst="rect">
            <a:avLst/>
          </a:prstGeom>
          <a:noFill/>
        </p:spPr>
        <p:txBody>
          <a:bodyPr wrap="square" anchor="t" lIns="45720" rIns="45720">
            <a:spAutoFit/>
          </a:bodyPr>
          <a:lstStyle/>
          <a:p>
            <a:pPr algn="l">
              <a:spcAft>
                <a:spcPts val="600"/>
              </a:spcAft>
            </a:pPr>
            <a:r>
              <a:rPr sz="1400" b="1" i="0">
                <a:solidFill>
                  <a:srgbClr val="E3A72F"/>
                </a:solidFill>
                <a:latin typeface="Calibri"/>
              </a:rPr>
              <a:t>RUN IT</a:t>
            </a:r>
          </a:p>
          <a:p>
            <a:pPr algn="l">
              <a:spcAft>
                <a:spcPts val="1800"/>
              </a:spcAft>
            </a:pPr>
            <a:r>
              <a:rPr sz="1800" b="1" i="0">
                <a:solidFill>
                  <a:srgbClr val="FFFFFF"/>
                </a:solidFill>
                <a:latin typeface="Courier New"/>
              </a:rPr>
              <a:t>streamlit run src/app.py</a:t>
            </a:r>
          </a:p>
          <a:p>
            <a:pPr algn="l">
              <a:spcAft>
                <a:spcPts val="600"/>
              </a:spcAft>
            </a:pPr>
            <a:r>
              <a:rPr sz="1400" b="1" i="0">
                <a:solidFill>
                  <a:srgbClr val="E3A72F"/>
                </a:solidFill>
                <a:latin typeface="Calibri"/>
              </a:rPr>
              <a:t>Try this:</a:t>
            </a:r>
          </a:p>
          <a:p>
            <a:pPr algn="l">
              <a:spcAft>
                <a:spcPts val="600"/>
              </a:spcAft>
            </a:pPr>
            <a:r>
              <a:rPr sz="1500" b="0" i="0">
                <a:solidFill>
                  <a:srgbClr val="FFFFFF"/>
                </a:solidFill>
                <a:latin typeface="Calibri"/>
              </a:rPr>
              <a:t>1. Keep the defaults → all 3 models APPROVE (LR 82%, RF 79%, DT 75%)</a:t>
            </a:r>
          </a:p>
          <a:p>
            <a:pPr algn="l">
              <a:spcAft>
                <a:spcPts val="600"/>
              </a:spcAft>
            </a:pPr>
            <a:r>
              <a:rPr sz="1500" b="0" i="0">
                <a:solidFill>
                  <a:srgbClr val="FFFFFF"/>
                </a:solidFill>
                <a:latin typeface="Calibri"/>
              </a:rPr>
              <a:t>2. Set credit history to 0 → all 3 REJECT</a:t>
            </a:r>
          </a:p>
          <a:p>
            <a:pPr algn="l">
              <a:spcAft>
                <a:spcPts val="600"/>
              </a:spcAft>
            </a:pPr>
            <a:r>
              <a:rPr sz="1400" b="0" i="1">
                <a:solidFill>
                  <a:srgbClr val="EAF3F0"/>
                </a:solidFill>
                <a:latin typeface="Calibri"/>
              </a:rPr>
              <a:t>One toggle flips every model: credit history in action.</a:t>
            </a:r>
          </a:p>
        </p:txBody>
      </p:sp>
      <p:sp>
        <p:nvSpPr>
          <p:cNvPr id="14" name="TextBox 13"/>
          <p:cNvSpPr txBox="1"/>
          <p:nvPr/>
        </p:nvSpPr>
        <p:spPr>
          <a:xfrm>
            <a:off x="548640" y="5394960"/>
            <a:ext cx="10972800" cy="365760"/>
          </a:xfrm>
          <a:prstGeom prst="rect">
            <a:avLst/>
          </a:prstGeom>
          <a:noFill/>
        </p:spPr>
        <p:txBody>
          <a:bodyPr wrap="square" anchor="t" lIns="45720" rIns="45720">
            <a:spAutoFit/>
          </a:bodyPr>
          <a:lstStyle/>
          <a:p>
            <a:pPr algn="l">
              <a:spcAft>
                <a:spcPts val="600"/>
              </a:spcAft>
            </a:pPr>
            <a:r>
              <a:rPr sz="1300" b="0" i="1">
                <a:solidFill>
                  <a:srgbClr val="5B6B6B"/>
                </a:solidFill>
                <a:latin typeface="Calibri"/>
              </a:rPr>
              <a:t>Academic demo only, not a real lending decision.</a:t>
            </a:r>
          </a:p>
        </p:txBody>
      </p:sp>
      <p:sp>
        <p:nvSpPr>
          <p:cNvPr id="15" name="TextBox 14"/>
          <p:cNvSpPr txBox="1"/>
          <p:nvPr/>
        </p:nvSpPr>
        <p:spPr>
          <a:xfrm>
            <a:off x="10881360" y="6400800"/>
            <a:ext cx="822960" cy="274320"/>
          </a:xfrm>
          <a:prstGeom prst="rect">
            <a:avLst/>
          </a:prstGeom>
          <a:noFill/>
        </p:spPr>
        <p:txBody>
          <a:bodyPr wrap="square" anchor="t" lIns="45720" rIns="45720">
            <a:spAutoFit/>
          </a:bodyPr>
          <a:lstStyle/>
          <a:p>
            <a:pPr algn="r">
              <a:spcAft>
                <a:spcPts val="600"/>
              </a:spcAft>
            </a:pPr>
            <a:r>
              <a:rPr sz="1000" b="0" i="0">
                <a:solidFill>
                  <a:srgbClr val="5B6B6B"/>
                </a:solidFill>
                <a:latin typeface="Calibri"/>
              </a:rPr>
              <a:t>13 / 14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3D3E"/>
        </a:solidFill>
        <a:effectLst/>
      </p:bgPr>
    </p:bg>
    <p:spTree>
      <p:nvGrpSpPr>
        <p:cNvPr id="1" name=""/>
        <p:cNvGrpSpPr/>
        <p:nvPr/>
      </p:nvGrpSpPr>
      <p:grpSpPr/>
      <p:sp>
        <p:nvSpPr>
          <p:cNvPr id="2" name="TextBox 1"/>
          <p:cNvSpPr txBox="1"/>
          <p:nvPr/>
        </p:nvSpPr>
        <p:spPr>
          <a:xfrm>
            <a:off x="548640" y="411480"/>
            <a:ext cx="10972800" cy="777240"/>
          </a:xfrm>
          <a:prstGeom prst="rect">
            <a:avLst/>
          </a:prstGeom>
          <a:noFill/>
        </p:spPr>
        <p:txBody>
          <a:bodyPr wrap="square" anchor="t" lIns="45720" rIns="45720">
            <a:spAutoFit/>
          </a:bodyPr>
          <a:lstStyle/>
          <a:p>
            <a:pPr algn="l">
              <a:spcAft>
                <a:spcPts val="600"/>
              </a:spcAft>
            </a:pPr>
            <a:r>
              <a:rPr sz="3400" b="1" i="0">
                <a:solidFill>
                  <a:srgbClr val="FFFFFF"/>
                </a:solidFill>
                <a:latin typeface="Cambria"/>
              </a:rPr>
              <a:t>Conclusion &amp; future scope</a:t>
            </a:r>
          </a:p>
        </p:txBody>
      </p:sp>
      <p:sp>
        <p:nvSpPr>
          <p:cNvPr id="3" name="Rounded Rectangle 2"/>
          <p:cNvSpPr/>
          <p:nvPr/>
        </p:nvSpPr>
        <p:spPr>
          <a:xfrm>
            <a:off x="548640" y="1417320"/>
            <a:ext cx="3520440" cy="3566160"/>
          </a:xfrm>
          <a:prstGeom prst="roundRect">
            <a:avLst>
              <a:gd name="adj" fmla="val 8000"/>
            </a:avLst>
          </a:prstGeom>
          <a:solidFill>
            <a:srgbClr val="1F6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59" y="1600200"/>
            <a:ext cx="3017520" cy="457200"/>
          </a:xfrm>
          <a:prstGeom prst="rect">
            <a:avLst/>
          </a:prstGeom>
          <a:noFill/>
        </p:spPr>
        <p:txBody>
          <a:bodyPr wrap="square" anchor="t" lIns="45720" rIns="45720">
            <a:spAutoFit/>
          </a:bodyPr>
          <a:lstStyle/>
          <a:p>
            <a:pPr algn="l">
              <a:spcAft>
                <a:spcPts val="600"/>
              </a:spcAft>
            </a:pPr>
            <a:r>
              <a:rPr sz="2000" b="1" i="0">
                <a:solidFill>
                  <a:srgbClr val="E3A72F"/>
                </a:solidFill>
                <a:latin typeface="Calibri"/>
              </a:rPr>
              <a:t>What we achieved</a:t>
            </a:r>
          </a:p>
        </p:txBody>
      </p:sp>
      <p:sp>
        <p:nvSpPr>
          <p:cNvPr id="5" name="TextBox 4"/>
          <p:cNvSpPr txBox="1"/>
          <p:nvPr/>
        </p:nvSpPr>
        <p:spPr>
          <a:xfrm>
            <a:off x="822959" y="2194560"/>
            <a:ext cx="3063240" cy="2743200"/>
          </a:xfrm>
          <a:prstGeom prst="rect">
            <a:avLst/>
          </a:prstGeom>
          <a:noFill/>
        </p:spPr>
        <p:txBody>
          <a:bodyPr wrap="square">
            <a:spAutoFit/>
          </a:bodyPr>
          <a:lstStyle/>
          <a:p>
            <a:pPr marL="256032" indent="-228600">
              <a:spcAft>
                <a:spcPts val="800"/>
              </a:spcAft>
              <a:buChar char="•"/>
            </a:pPr>
            <a:r>
              <a:rPr sz="1600" b="1">
                <a:solidFill>
                  <a:srgbClr val="FFFFFF"/>
                </a:solidFill>
                <a:latin typeface="Calibri"/>
              </a:rPr>
              <a:t>End-to-end ML system: </a:t>
            </a:r>
            <a:r>
              <a:rPr sz="1600" b="0">
                <a:solidFill>
                  <a:srgbClr val="FFFFFF"/>
                </a:solidFill>
                <a:latin typeface="Calibri"/>
              </a:rPr>
              <a:t>87.8% test accuracy, F1 0.918</a:t>
            </a:r>
          </a:p>
          <a:p>
            <a:pPr marL="256032" indent="-228600">
              <a:spcAft>
                <a:spcPts val="800"/>
              </a:spcAft>
              <a:buChar char="•"/>
            </a:pPr>
            <a:r>
              <a:rPr sz="1600" b="0">
                <a:solidFill>
                  <a:srgbClr val="FFFFFF"/>
                </a:solidFill>
                <a:latin typeface="Calibri"/>
              </a:rPr>
              <a:t>5 affordability features that measurably help</a:t>
            </a:r>
          </a:p>
          <a:p>
            <a:pPr marL="256032" indent="-228600">
              <a:spcAft>
                <a:spcPts val="800"/>
              </a:spcAft>
              <a:buChar char="•"/>
            </a:pPr>
            <a:r>
              <a:rPr sz="1600" b="0">
                <a:solidFill>
                  <a:srgbClr val="FFFFFF"/>
                </a:solidFill>
                <a:latin typeface="Calibri"/>
              </a:rPr>
              <a:t>Fair comparison of 3 models using cross-validation</a:t>
            </a:r>
          </a:p>
          <a:p>
            <a:pPr marL="256032" indent="-228600">
              <a:spcAft>
                <a:spcPts val="800"/>
              </a:spcAft>
              <a:buChar char="•"/>
            </a:pPr>
            <a:r>
              <a:rPr sz="1600" b="0">
                <a:solidFill>
                  <a:srgbClr val="FFFFFF"/>
                </a:solidFill>
                <a:latin typeface="Calibri"/>
              </a:rPr>
              <a:t>Working web app</a:t>
            </a:r>
          </a:p>
        </p:txBody>
      </p:sp>
      <p:sp>
        <p:nvSpPr>
          <p:cNvPr id="6" name="Rounded Rectangle 5"/>
          <p:cNvSpPr/>
          <p:nvPr/>
        </p:nvSpPr>
        <p:spPr>
          <a:xfrm>
            <a:off x="4297679" y="1417320"/>
            <a:ext cx="3520440" cy="3566160"/>
          </a:xfrm>
          <a:prstGeom prst="roundRect">
            <a:avLst>
              <a:gd name="adj" fmla="val 8000"/>
            </a:avLst>
          </a:prstGeom>
          <a:solidFill>
            <a:srgbClr val="1F6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1999" y="1600200"/>
            <a:ext cx="3017520" cy="457200"/>
          </a:xfrm>
          <a:prstGeom prst="rect">
            <a:avLst/>
          </a:prstGeom>
          <a:noFill/>
        </p:spPr>
        <p:txBody>
          <a:bodyPr wrap="square" anchor="t" lIns="45720" rIns="45720">
            <a:spAutoFit/>
          </a:bodyPr>
          <a:lstStyle/>
          <a:p>
            <a:pPr algn="l">
              <a:spcAft>
                <a:spcPts val="600"/>
              </a:spcAft>
            </a:pPr>
            <a:r>
              <a:rPr sz="2000" b="1" i="0">
                <a:solidFill>
                  <a:srgbClr val="E3A72F"/>
                </a:solidFill>
                <a:latin typeface="Calibri"/>
              </a:rPr>
              <a:t>Limitations</a:t>
            </a:r>
          </a:p>
        </p:txBody>
      </p:sp>
      <p:sp>
        <p:nvSpPr>
          <p:cNvPr id="8" name="TextBox 7"/>
          <p:cNvSpPr txBox="1"/>
          <p:nvPr/>
        </p:nvSpPr>
        <p:spPr>
          <a:xfrm>
            <a:off x="4571999" y="2194560"/>
            <a:ext cx="3063240" cy="2743200"/>
          </a:xfrm>
          <a:prstGeom prst="rect">
            <a:avLst/>
          </a:prstGeom>
          <a:noFill/>
        </p:spPr>
        <p:txBody>
          <a:bodyPr wrap="square">
            <a:spAutoFit/>
          </a:bodyPr>
          <a:lstStyle/>
          <a:p>
            <a:pPr marL="256032" indent="-228600">
              <a:spcAft>
                <a:spcPts val="800"/>
              </a:spcAft>
              <a:buChar char="•"/>
            </a:pPr>
            <a:r>
              <a:rPr sz="1600" b="0">
                <a:solidFill>
                  <a:srgbClr val="FFFFFF"/>
                </a:solidFill>
                <a:latin typeface="Calibri"/>
              </a:rPr>
              <a:t>Small dataset (614), not from a real lender</a:t>
            </a:r>
          </a:p>
          <a:p>
            <a:pPr marL="256032" indent="-228600">
              <a:spcAft>
                <a:spcPts val="800"/>
              </a:spcAft>
              <a:buChar char="•"/>
            </a:pPr>
            <a:r>
              <a:rPr sz="1600" b="1">
                <a:solidFill>
                  <a:srgbClr val="FFFFFF"/>
                </a:solidFill>
                <a:latin typeface="Calibri"/>
              </a:rPr>
              <a:t>Lenient: </a:t>
            </a:r>
            <a:r>
              <a:rPr sz="1600" b="0">
                <a:solidFill>
                  <a:srgbClr val="FFFFFF"/>
                </a:solidFill>
                <a:latin typeface="Calibri"/>
              </a:rPr>
              <a:t>~1 in 3 risky applicants still approved</a:t>
            </a:r>
          </a:p>
          <a:p>
            <a:pPr marL="256032" indent="-228600">
              <a:spcAft>
                <a:spcPts val="800"/>
              </a:spcAft>
              <a:buChar char="•"/>
            </a:pPr>
            <a:r>
              <a:rPr sz="1600" b="0">
                <a:solidFill>
                  <a:srgbClr val="FFFFFF"/>
                </a:solidFill>
                <a:latin typeface="Calibri"/>
              </a:rPr>
              <a:t>Sensitive attributes still in the inputs</a:t>
            </a:r>
          </a:p>
        </p:txBody>
      </p:sp>
      <p:sp>
        <p:nvSpPr>
          <p:cNvPr id="9" name="Rounded Rectangle 8"/>
          <p:cNvSpPr/>
          <p:nvPr/>
        </p:nvSpPr>
        <p:spPr>
          <a:xfrm>
            <a:off x="8046719" y="1417320"/>
            <a:ext cx="3520440" cy="3566160"/>
          </a:xfrm>
          <a:prstGeom prst="roundRect">
            <a:avLst>
              <a:gd name="adj" fmla="val 8000"/>
            </a:avLst>
          </a:prstGeom>
          <a:solidFill>
            <a:srgbClr val="1F6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21040" y="1600200"/>
            <a:ext cx="3017520" cy="457200"/>
          </a:xfrm>
          <a:prstGeom prst="rect">
            <a:avLst/>
          </a:prstGeom>
          <a:noFill/>
        </p:spPr>
        <p:txBody>
          <a:bodyPr wrap="square" anchor="t" lIns="45720" rIns="45720">
            <a:spAutoFit/>
          </a:bodyPr>
          <a:lstStyle/>
          <a:p>
            <a:pPr algn="l">
              <a:spcAft>
                <a:spcPts val="600"/>
              </a:spcAft>
            </a:pPr>
            <a:r>
              <a:rPr sz="2000" b="1" i="0">
                <a:solidFill>
                  <a:srgbClr val="E3A72F"/>
                </a:solidFill>
                <a:latin typeface="Calibri"/>
              </a:rPr>
              <a:t>Future scope</a:t>
            </a:r>
          </a:p>
        </p:txBody>
      </p:sp>
      <p:sp>
        <p:nvSpPr>
          <p:cNvPr id="11" name="TextBox 10"/>
          <p:cNvSpPr txBox="1"/>
          <p:nvPr/>
        </p:nvSpPr>
        <p:spPr>
          <a:xfrm>
            <a:off x="8321040" y="2194560"/>
            <a:ext cx="3063240" cy="2743200"/>
          </a:xfrm>
          <a:prstGeom prst="rect">
            <a:avLst/>
          </a:prstGeom>
          <a:noFill/>
        </p:spPr>
        <p:txBody>
          <a:bodyPr wrap="square">
            <a:spAutoFit/>
          </a:bodyPr>
          <a:lstStyle/>
          <a:p>
            <a:pPr marL="256032" indent="-228600">
              <a:spcAft>
                <a:spcPts val="800"/>
              </a:spcAft>
              <a:buChar char="•"/>
            </a:pPr>
            <a:r>
              <a:rPr sz="1600" b="0">
                <a:solidFill>
                  <a:srgbClr val="FFFFFF"/>
                </a:solidFill>
                <a:latin typeface="Calibri"/>
              </a:rPr>
              <a:t>Class weights / threshold tuning</a:t>
            </a:r>
          </a:p>
          <a:p>
            <a:pPr marL="256032" indent="-228600">
              <a:spcAft>
                <a:spcPts val="800"/>
              </a:spcAft>
              <a:buChar char="•"/>
            </a:pPr>
            <a:r>
              <a:rPr sz="1600" b="0">
                <a:solidFill>
                  <a:srgbClr val="FFFFFF"/>
                </a:solidFill>
                <a:latin typeface="Calibri"/>
              </a:rPr>
              <a:t>Drop sensitive features; fairness audit</a:t>
            </a:r>
          </a:p>
          <a:p>
            <a:pPr marL="256032" indent="-228600">
              <a:spcAft>
                <a:spcPts val="800"/>
              </a:spcAft>
              <a:buChar char="•"/>
            </a:pPr>
            <a:r>
              <a:rPr sz="1600" b="0">
                <a:solidFill>
                  <a:srgbClr val="FFFFFF"/>
                </a:solidFill>
                <a:latin typeface="Calibri"/>
              </a:rPr>
              <a:t>Try gradient boosting (XGBoost)</a:t>
            </a:r>
          </a:p>
          <a:p>
            <a:pPr marL="256032" indent="-228600">
              <a:spcAft>
                <a:spcPts val="800"/>
              </a:spcAft>
              <a:buChar char="•"/>
            </a:pPr>
            <a:r>
              <a:rPr sz="1600" b="0">
                <a:solidFill>
                  <a:srgbClr val="FFFFFF"/>
                </a:solidFill>
                <a:latin typeface="Calibri"/>
              </a:rPr>
              <a:t>Larger, real-world data</a:t>
            </a:r>
          </a:p>
        </p:txBody>
      </p:sp>
      <p:sp>
        <p:nvSpPr>
          <p:cNvPr id="12" name="TextBox 11"/>
          <p:cNvSpPr txBox="1"/>
          <p:nvPr/>
        </p:nvSpPr>
        <p:spPr>
          <a:xfrm>
            <a:off x="548640" y="5440680"/>
            <a:ext cx="11064240" cy="548640"/>
          </a:xfrm>
          <a:prstGeom prst="rect">
            <a:avLst/>
          </a:prstGeom>
          <a:noFill/>
        </p:spPr>
        <p:txBody>
          <a:bodyPr wrap="square" anchor="t" lIns="45720" rIns="45720">
            <a:spAutoFit/>
          </a:bodyPr>
          <a:lstStyle/>
          <a:p>
            <a:pPr algn="ctr">
              <a:spcAft>
                <a:spcPts val="600"/>
              </a:spcAft>
            </a:pPr>
            <a:r>
              <a:rPr sz="2400" b="1" i="0">
                <a:solidFill>
                  <a:srgbClr val="FFFFFF"/>
                </a:solidFill>
                <a:latin typeface="Cambria"/>
              </a:rPr>
              <a:t>Thank you. Questions welcome.</a:t>
            </a:r>
          </a:p>
        </p:txBody>
      </p:sp>
      <p:sp>
        <p:nvSpPr>
          <p:cNvPr id="13" name="TextBox 12"/>
          <p:cNvSpPr txBox="1"/>
          <p:nvPr/>
        </p:nvSpPr>
        <p:spPr>
          <a:xfrm>
            <a:off x="10881360" y="6400800"/>
            <a:ext cx="822960" cy="274320"/>
          </a:xfrm>
          <a:prstGeom prst="rect">
            <a:avLst/>
          </a:prstGeom>
          <a:noFill/>
        </p:spPr>
        <p:txBody>
          <a:bodyPr wrap="square" anchor="t" lIns="45720" rIns="45720">
            <a:spAutoFit/>
          </a:bodyPr>
          <a:lstStyle/>
          <a:p>
            <a:pPr algn="r">
              <a:spcAft>
                <a:spcPts val="600"/>
              </a:spcAft>
            </a:pPr>
            <a:r>
              <a:rPr sz="1000" b="0" i="0">
                <a:solidFill>
                  <a:srgbClr val="EAF3F0"/>
                </a:solidFill>
                <a:latin typeface="Calibri"/>
              </a:rPr>
              <a:t>14 / 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